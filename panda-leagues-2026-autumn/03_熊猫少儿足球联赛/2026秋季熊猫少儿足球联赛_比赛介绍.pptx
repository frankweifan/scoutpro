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7999177e-03cf-6aa3-5c30-04c5ed4978b6}">
          <p14:sldIdLst>
            <p14:sldId id="256"/>
          </p14:sldIdLst>
        </p14:section>
        <p14:section name="关于联赛" id="{df924e44-b089-c45d-7e9e-f96373ff53ed}">
          <p14:sldIdLst>
            <p14:sldId id="257"/>
            <p14:sldId id="258"/>
            <p14:sldId id="259"/>
          </p14:sldIdLst>
        </p14:section>
        <p14:section name="三个组别" id="{5949400a-f6bf-2805-c208-a5ee1bfc8de9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参赛须知" id="{58c92a69-a792-7bb1-0dc1-58267eb5672f}">
          <p14:sldIdLst>
            <p14:sldId id="266"/>
            <p14:sldId id="267"/>
            <p14:sldId id="268"/>
            <p14:sldId id="269"/>
          </p14:sldIdLst>
        </p14:section>
        <p14:section name="结束" id="{19398a5e-a380-21a2-ae97-26a86477cc2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545"/>
                </a:solidFill>
                <a:latin typeface="+mn-lt"/>
              </a:rPr>
              <a:t>传统选拔式比赛中的球员（示意）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传统选拔式比赛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4518E"/>
              </a:solidFill>
              <a:effectLst/>
            </c:spPr>
          </c:dPt>
          <c:dPt>
            <c:idx val="1"/>
            <c:bubble3D val="0"/>
            <c:spPr>
              <a:solidFill>
                <a:srgbClr val="1E9BD7"/>
              </a:solidFill>
              <a:effectLst/>
            </c:spPr>
          </c:dPt>
          <c:dPt>
            <c:idx val="2"/>
            <c:bubble3D val="0"/>
            <c:spPr>
              <a:solidFill>
                <a:srgbClr val="0B254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主力：比赛机会充足</c:v>
                </c:pt>
                <c:pt idx="1">
                  <c:v>替补：偶尔上场</c:v>
                </c:pt>
                <c:pt idx="2">
                  <c:v>没有比赛机会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</c:v>
                </c:pt>
                <c:pt idx="1">
                  <c:v>10</c:v>
                </c:pt>
                <c:pt idx="2">
                  <c:v>80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 熊猫少儿足球联赛（秋季）比赛介绍。核心理念：为了每个人更好的成长。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“年均 1500+ 场”沿用联赛 2021 年介绍资料中的数据。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10% / 10% / 80% 为联赛 2021 年介绍资料中的示意比例，用来说明选拔式比赛的问题。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英格兰足总 U11 及以下、澳大利亚 MiniRoos、荷兰 6v6 也都不公布比分与排名。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每个组别覆盖两个出生年份：U6 含 U5，U8 含 U7，U10 含 U9。可报名大一岁女队员，并可报名上一年龄段 9 月 1 日后出生的球员（U6 1 人、U8 2 人、U10 3 人）。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参照英格兰足总 3v3：无守门员、运球或传球重启、多触球。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今年 U8 由 4 人制升级为 5 人制并设守门员，参照英格兰足总 U8–U9 5v5。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U10 组为 5 人制，适合刚接触比赛或希望更多触球的球队；希望挑战八人制的球队可报名周六的熊猫精英联赛。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“保持竞争”、均等上场、不铲球、不判越位、绿牌，是三个组别共同的规则。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国际主流足协的低龄比赛，都在朝“更小的场地、更少的人数、更多的触球、更少的结果压力”方向改革。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成长卡是本季新增的小工具，可在联赛 VI 素材包中找到模板。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三方守则来自本联赛《规则精要》，参照英格兰足总 Respect 计划和日本足协“最佳支持者”家长手册。核心：不遥控、多鼓励、尊重执裁。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闭幕式上所有队员都会上台领奖。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保证金在赛季结束后根据竞赛规程结算退还。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感谢聆听。欢迎各俱乐部、学校、班级、小区与好朋友组队报名。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7315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coutPro/8d0e02b1-06d6-550b-959b-bfe209a9450e/scratchpad/out/01_VI视觉识别系统/assets/logo/panda-logo_youth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347472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</a:rPr>
              <a:t>熊猫少儿足球联赛 · 2026 秋季比赛介绍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熊猫少儿足球联赛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PANDA YOUTH LEAGUE · 2026 AUTUMN</a:t>
            </a:r>
            <a:endParaRPr lang="en-US" sz="2600" dirty="0"/>
          </a:p>
        </p:txBody>
      </p:sp>
      <p:pic>
        <p:nvPicPr>
          <p:cNvPr id="4" name="logo" descr="/tmp/claude-0/-home-user-ScoutPro/8d0e02b1-06d6-550b-959b-bfe209a9450e/scratchpad/out/01_VI视觉识别系统/assets/logo/panda-logo_youth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417320"/>
            <a:ext cx="320040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977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</a:rPr>
              <a:t>2026 秋季赛季 · 比赛介绍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6E6"/>
                </a:solidFill>
              </a:rPr>
              <a:t>U6 3 人制　·　U8 / U10 5 人制　·　每周日上午　·　四川新北足球中心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6D1"/>
                </a:solidFill>
              </a:rPr>
              <a:t>主办：成都高新区足球协会　四川新北体育文化传播有限公司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始于 2017 年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SINCE 2017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B2545"/>
                </a:solidFill>
              </a:rPr>
              <a:t>从第一届比赛开始，就坚持联赛制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3202F"/>
                </a:solidFill>
              </a:rPr>
              <a:t>熊猫少儿足球联赛由成都高新区足球协会主办，自 2017 年起以单循环或双循环的联赛制进行比赛。多年来，年均 1500 场以上的比赛组织经验，加上家长、教练与俱乐部的支持与认可，让这个比赛平台持续、稳定地发展。</a:t>
            </a:r>
            <a:endParaRPr lang="en-US" sz="1500" dirty="0"/>
          </a:p>
        </p:txBody>
      </p:sp>
      <p:pic>
        <p:nvPicPr>
          <p:cNvPr id="5" name="photo" descr="/tmp/claude-0/-home-user-ScoutPro/8d0e02b1-06d6-550b-959b-bfe209a9450e/scratchpad/build/photos/p7_x4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508760"/>
            <a:ext cx="5605272" cy="31546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548640" y="4846320"/>
            <a:ext cx="2601468" cy="1280160"/>
          </a:xfrm>
          <a:prstGeom prst="roundRect">
            <a:avLst>
              <a:gd name="adj" fmla="val 8571"/>
            </a:avLst>
          </a:prstGeom>
          <a:solidFill>
            <a:srgbClr val="F5F8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01091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2017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71500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联赛创办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378708" y="4846320"/>
            <a:ext cx="2601468" cy="1280160"/>
          </a:xfrm>
          <a:prstGeom prst="roundRect">
            <a:avLst>
              <a:gd name="adj" fmla="val 8571"/>
            </a:avLst>
          </a:prstGeom>
          <a:solidFill>
            <a:srgbClr val="F5F8F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61588" y="501091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1500+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561588" y="571500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年均组织比赛场次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208776" y="4846320"/>
            <a:ext cx="2601468" cy="1280160"/>
          </a:xfrm>
          <a:prstGeom prst="roundRect">
            <a:avLst>
              <a:gd name="adj" fmla="val 8571"/>
            </a:avLst>
          </a:prstGeom>
          <a:solidFill>
            <a:srgbClr val="F5F8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91656" y="501091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组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391656" y="571500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U6 · U8 · U10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9038844" y="4846320"/>
            <a:ext cx="2601468" cy="1280160"/>
          </a:xfrm>
          <a:prstGeom prst="roundRect">
            <a:avLst>
              <a:gd name="adj" fmla="val 8571"/>
            </a:avLst>
          </a:prstGeom>
          <a:solidFill>
            <a:srgbClr val="F5F8F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221724" y="5010912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每周日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9221724" y="571500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0"/>
                </a:solidFill>
              </a:rPr>
              <a:t>上午 · 常态化联赛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为什么比赛？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WHY MATCHES MATTER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4846320" cy="1389888"/>
          </a:xfrm>
          <a:prstGeom prst="roundRect">
            <a:avLst>
              <a:gd name="adj" fmla="val 7895"/>
            </a:avLst>
          </a:prstGeom>
          <a:solidFill>
            <a:srgbClr val="F5F8FB"/>
          </a:solidFill>
          <a:ln/>
        </p:spPr>
      </p:sp>
      <p:sp>
        <p:nvSpPr>
          <p:cNvPr id="5" name="icon-bg"/>
          <p:cNvSpPr/>
          <p:nvPr/>
        </p:nvSpPr>
        <p:spPr>
          <a:xfrm>
            <a:off x="74980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6" name="icon" descr="/tmp/claude-0/-home-user-ScoutPro/8d0e02b1-06d6-550b-959b-bfe209a9450e/scratchpad/build/gen/icons/TbBallFootbal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83062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0992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核心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77440"/>
            <a:ext cx="44439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比赛是足球运动的核心。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3099816"/>
            <a:ext cx="4846320" cy="1389888"/>
          </a:xfrm>
          <a:prstGeom prst="roundRect">
            <a:avLst>
              <a:gd name="adj" fmla="val 7895"/>
            </a:avLst>
          </a:prstGeom>
          <a:solidFill>
            <a:srgbClr val="F5F8FB"/>
          </a:solidFill>
          <a:ln/>
        </p:spPr>
      </p:sp>
      <p:sp>
        <p:nvSpPr>
          <p:cNvPr id="10" name="icon-bg"/>
          <p:cNvSpPr/>
          <p:nvPr/>
        </p:nvSpPr>
        <p:spPr>
          <a:xfrm>
            <a:off x="749808" y="3300984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1" name="icon" descr="/tmp/claude-0/-home-user-ScoutPro/8d0e02b1-06d6-550b-959b-bfe209a9450e/scratchpad/build/gen/icons/TbSeedl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9" y="3421685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30098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成长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3968496"/>
            <a:ext cx="44439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球员在比赛中获得成长。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4690872"/>
            <a:ext cx="4846320" cy="1389888"/>
          </a:xfrm>
          <a:prstGeom prst="roundRect">
            <a:avLst>
              <a:gd name="adj" fmla="val 7895"/>
            </a:avLst>
          </a:prstGeom>
          <a:solidFill>
            <a:srgbClr val="F5F8FB"/>
          </a:solidFill>
          <a:ln/>
        </p:spPr>
      </p:sp>
      <p:sp>
        <p:nvSpPr>
          <p:cNvPr id="15" name="icon-bg"/>
          <p:cNvSpPr/>
          <p:nvPr/>
        </p:nvSpPr>
        <p:spPr>
          <a:xfrm>
            <a:off x="749808" y="4892040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6" name="icon" descr="/tmp/claude-0/-home-user-ScoutPro/8d0e02b1-06d6-550b-959b-bfe209a9450e/scratchpad/build/gen/icons/TbSparkle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50127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48920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激情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49808" y="5559552"/>
            <a:ext cx="44439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比赛让每个人都充满激情。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669280" y="146304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xt 14"/>
          <p:cNvSpPr txBox="1"/>
          <p:nvPr/>
        </p:nvSpPr>
        <p:spPr>
          <a:xfrm>
            <a:off x="5852160" y="54864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B80"/>
                </a:solidFill>
              </a:rPr>
              <a:t>对于这 90% 的孩子来说，他们是不是失去了在比赛中成长的机会？——这正是熊猫少儿联赛想要改变的。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每个人都是冠军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EVERYONE IS A CHAMPION</a:t>
            </a:r>
            <a:endParaRPr lang="en-US" sz="1200" dirty="0"/>
          </a:p>
        </p:txBody>
      </p:sp>
      <p:pic>
        <p:nvPicPr>
          <p:cNvPr id="4" name="photo" descr="/tmp/claude-0/-home-user-ScoutPro/8d0e02b1-06d6-550b-959b-bfe209a9450e/scratchpad/build/photos/p9_x6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4754880" cy="4663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15544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B2545"/>
                </a:solidFill>
              </a:rPr>
              <a:t>每名球员都通过比赛得到了成长，成为了更好的自己——所以，每个人都是冠军！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5577840" y="2697480"/>
            <a:ext cx="6062472" cy="1005840"/>
          </a:xfrm>
          <a:prstGeom prst="roundRect">
            <a:avLst>
              <a:gd name="adj" fmla="val 10909"/>
            </a:avLst>
          </a:prstGeom>
          <a:solidFill>
            <a:srgbClr val="F5F8FB"/>
          </a:solidFill>
          <a:ln/>
        </p:spPr>
      </p:sp>
      <p:sp>
        <p:nvSpPr>
          <p:cNvPr id="7" name="icon-bg"/>
          <p:cNvSpPr/>
          <p:nvPr/>
        </p:nvSpPr>
        <p:spPr>
          <a:xfrm>
            <a:off x="5760720" y="2880360"/>
            <a:ext cx="640080" cy="640080"/>
          </a:xfrm>
          <a:prstGeom prst="ellipse">
            <a:avLst/>
          </a:prstGeom>
          <a:solidFill>
            <a:srgbClr val="2FB45A"/>
          </a:solidFill>
          <a:ln/>
        </p:spPr>
      </p:sp>
      <p:pic>
        <p:nvPicPr>
          <p:cNvPr id="8" name="icon" descr="/tmp/claude-0/-home-user-ScoutPro/8d0e02b1-06d6-550b-959b-bfe209a9450e/scratchpad/build/gen/icons/TbTroph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538" y="3021178"/>
            <a:ext cx="358445" cy="3584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83680" y="2807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2545"/>
                </a:solidFill>
              </a:rPr>
              <a:t>不设冠军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583680" y="3200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3202F"/>
                </a:solidFill>
              </a:rPr>
              <a:t>没有冠亚季军，只有一起成长的伙伴。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5577840" y="3867912"/>
            <a:ext cx="6062472" cy="1005840"/>
          </a:xfrm>
          <a:prstGeom prst="roundRect">
            <a:avLst>
              <a:gd name="adj" fmla="val 10909"/>
            </a:avLst>
          </a:prstGeom>
          <a:solidFill>
            <a:srgbClr val="F5F8FB"/>
          </a:solidFill>
          <a:ln/>
        </p:spPr>
      </p:sp>
      <p:sp>
        <p:nvSpPr>
          <p:cNvPr id="12" name="icon-bg"/>
          <p:cNvSpPr/>
          <p:nvPr/>
        </p:nvSpPr>
        <p:spPr>
          <a:xfrm>
            <a:off x="5760720" y="4050792"/>
            <a:ext cx="640080" cy="640080"/>
          </a:xfrm>
          <a:prstGeom prst="ellipse">
            <a:avLst/>
          </a:prstGeom>
          <a:solidFill>
            <a:srgbClr val="2FB45A"/>
          </a:solidFill>
          <a:ln/>
        </p:spPr>
      </p:sp>
      <p:pic>
        <p:nvPicPr>
          <p:cNvPr id="13" name="icon" descr="/tmp/claude-0/-home-user-ScoutPro/8d0e02b1-06d6-550b-959b-bfe209a9450e/scratchpad/build/gen/icons/TbChartLin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538" y="4191610"/>
            <a:ext cx="358445" cy="35844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8368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2545"/>
                </a:solidFill>
              </a:rPr>
              <a:t>不统计积分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583680" y="43708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3202F"/>
                </a:solidFill>
              </a:rPr>
              <a:t>没有积分榜，比分只用于调整组别，让比赛双方实力接近。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5577840" y="5038344"/>
            <a:ext cx="6062472" cy="1005840"/>
          </a:xfrm>
          <a:prstGeom prst="roundRect">
            <a:avLst>
              <a:gd name="adj" fmla="val 10909"/>
            </a:avLst>
          </a:prstGeom>
          <a:solidFill>
            <a:srgbClr val="F5F8FB"/>
          </a:solidFill>
          <a:ln/>
        </p:spPr>
      </p:sp>
      <p:sp>
        <p:nvSpPr>
          <p:cNvPr id="17" name="icon-bg"/>
          <p:cNvSpPr/>
          <p:nvPr/>
        </p:nvSpPr>
        <p:spPr>
          <a:xfrm>
            <a:off x="5760720" y="5221224"/>
            <a:ext cx="640080" cy="640080"/>
          </a:xfrm>
          <a:prstGeom prst="ellipse">
            <a:avLst/>
          </a:prstGeom>
          <a:solidFill>
            <a:srgbClr val="2FB45A"/>
          </a:solidFill>
          <a:ln/>
        </p:spPr>
      </p:sp>
      <p:pic>
        <p:nvPicPr>
          <p:cNvPr id="18" name="icon" descr="/tmp/claude-0/-home-user-ScoutPro/8d0e02b1-06d6-550b-959b-bfe209a9450e/scratchpad/build/gen/icons/TbBa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538" y="5362042"/>
            <a:ext cx="358445" cy="35844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83680" y="51480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2545"/>
                </a:solidFill>
              </a:rPr>
              <a:t>不公布赛果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583680" y="55412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3202F"/>
                </a:solidFill>
              </a:rPr>
              <a:t>对外传播只讲成长：上场人数、精彩瞬间、勇敢的尝试。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三个组别，三种比赛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THREE FORMATS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547872" cy="1600200"/>
          </a:xfrm>
          <a:prstGeom prst="roundRect">
            <a:avLst>
              <a:gd name="adj" fmla="val 6857"/>
            </a:avLst>
          </a:prstGeom>
          <a:solidFill>
            <a:srgbClr val="FFC7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5400" b="1" dirty="0">
                <a:solidFill>
                  <a:srgbClr val="0B254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U6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B2545"/>
                </a:solidFill>
              </a:rPr>
              <a:t>3 人制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3246120"/>
            <a:ext cx="3547872" cy="2926080"/>
          </a:xfrm>
          <a:prstGeom prst="roundRect">
            <a:avLst>
              <a:gd name="adj" fmla="val 3750"/>
            </a:avLst>
          </a:prstGeom>
          <a:solidFill>
            <a:srgbClr val="F5F8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4747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2020.1.1 后出生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不设守门员 · 3 号球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4 节 × 8 分钟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约 20 × 15 m · 迷你球门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25112" y="1508760"/>
            <a:ext cx="3547872" cy="1600200"/>
          </a:xfrm>
          <a:prstGeom prst="roundRect">
            <a:avLst>
              <a:gd name="adj" fmla="val 6857"/>
            </a:avLst>
          </a:prstGeom>
          <a:solidFill>
            <a:srgbClr val="2FB4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9432" y="1600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U8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5 人制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4325112" y="3246120"/>
            <a:ext cx="3547872" cy="2926080"/>
          </a:xfrm>
          <a:prstGeom prst="roundRect">
            <a:avLst>
              <a:gd name="adj" fmla="val 3750"/>
            </a:avLst>
          </a:prstGeom>
          <a:solidFill>
            <a:srgbClr val="F5F8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53712" y="34747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2018.1.1 后出生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设守门员（全员轮换）· 3 号球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4 节 × 10 分钟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约 30–37 × 20–25 m · 3 × 2 m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01584" y="1508760"/>
            <a:ext cx="3547872" cy="1600200"/>
          </a:xfrm>
          <a:prstGeom prst="roundRect">
            <a:avLst>
              <a:gd name="adj" fmla="val 6857"/>
            </a:avLst>
          </a:prstGeom>
          <a:solidFill>
            <a:srgbClr val="1E9BD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75904" y="1600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U10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5 人制</a:t>
            </a:r>
            <a:endParaRPr lang="en-US" sz="1800" dirty="0"/>
          </a:p>
        </p:txBody>
      </p:sp>
      <p:sp>
        <p:nvSpPr>
          <p:cNvPr id="17" name="card"/>
          <p:cNvSpPr/>
          <p:nvPr/>
        </p:nvSpPr>
        <p:spPr>
          <a:xfrm>
            <a:off x="8101584" y="3246120"/>
            <a:ext cx="3547872" cy="2926080"/>
          </a:xfrm>
          <a:prstGeom prst="roundRect">
            <a:avLst>
              <a:gd name="adj" fmla="val 3750"/>
            </a:avLst>
          </a:prstGeom>
          <a:solidFill>
            <a:srgbClr val="F5F8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30184" y="34747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2016.1.1 后出生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设守门员（全员轮换）· 4 号球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4 节 × 12 分钟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2F"/>
                </a:solidFill>
              </a:rPr>
              <a:t>约 36–40 × 20–25 m · 3 × 2 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U6 组 · 3 人制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U6 · 3V3 · NO GOALKEEPER</a:t>
            </a:r>
            <a:endParaRPr lang="en-US" sz="1200" dirty="0"/>
          </a:p>
        </p:txBody>
      </p:sp>
      <p:pic>
        <p:nvPicPr>
          <p:cNvPr id="4" name="pitch" descr="/tmp/claude-0/-home-user-ScoutPro/8d0e02b1-06d6-550b-959b-bfe209a9450e/scratchpad/build/gen/pitch_u6.png">    </p:cNvPr>
          <p:cNvPicPr>
            <a:picLocks noChangeAspect="1"/>
          </p:cNvPicPr>
          <p:nvPr/>
        </p:nvPicPr>
        <p:blipFill>
          <a:blip r:embed="rId1"/>
          <a:srcRect l="-3511" r="-3511" t="0" b="0"/>
          <a:stretch/>
        </p:blipFill>
        <p:spPr>
          <a:xfrm>
            <a:off x="548640" y="1600200"/>
            <a:ext cx="5120640" cy="411480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943600" y="15087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6" name="icon-bg"/>
          <p:cNvSpPr/>
          <p:nvPr/>
        </p:nvSpPr>
        <p:spPr>
          <a:xfrm>
            <a:off x="614476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7" name="icon" descr="/tmp/claude-0/-home-user-ScoutPro/8d0e02b1-06d6-550b-959b-bfe209a9450e/scratchpad/build/gen/icons/Tb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469" y="1830629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12280" y="17099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4 节 × 8 分钟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144768" y="237744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休息 1′ / 3′ / 1′；教练员只能在休息时指导。</a:t>
            </a:r>
            <a:endParaRPr lang="en-US" sz="1250" dirty="0"/>
          </a:p>
        </p:txBody>
      </p:sp>
      <p:sp>
        <p:nvSpPr>
          <p:cNvPr id="10" name="card"/>
          <p:cNvSpPr/>
          <p:nvPr/>
        </p:nvSpPr>
        <p:spPr>
          <a:xfrm>
            <a:off x="8897112" y="15087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11" name="icon-bg"/>
          <p:cNvSpPr/>
          <p:nvPr/>
        </p:nvSpPr>
        <p:spPr>
          <a:xfrm>
            <a:off x="9098280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2" name="icon" descr="/tmp/claude-0/-home-user-ScoutPro/8d0e02b1-06d6-550b-959b-bfe209a9450e/scratchpad/build/gen/icons/TbUsersGrou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981" y="183062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765792" y="17099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人人上场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9098280" y="237744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所有到场球员上场时间基本相同，不少于全场一半。</a:t>
            </a:r>
            <a:endParaRPr lang="en-US" sz="1250" dirty="0"/>
          </a:p>
        </p:txBody>
      </p:sp>
      <p:sp>
        <p:nvSpPr>
          <p:cNvPr id="15" name="card"/>
          <p:cNvSpPr/>
          <p:nvPr/>
        </p:nvSpPr>
        <p:spPr>
          <a:xfrm>
            <a:off x="5943600" y="31546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16" name="icon-bg"/>
          <p:cNvSpPr/>
          <p:nvPr/>
        </p:nvSpPr>
        <p:spPr>
          <a:xfrm>
            <a:off x="6144768" y="335584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7" name="icon" descr="/tmp/claude-0/-home-user-ScoutPro/8d0e02b1-06d6-550b-959b-bfe209a9450e/scratchpad/build/gen/icons/TbArrowsExchan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469" y="3476549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12280" y="33558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运球 / 传球入场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144768" y="402336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界外球不掷球，运球或传球入场，防守队员退 3 米。</a:t>
            </a:r>
            <a:endParaRPr lang="en-US" sz="1250" dirty="0"/>
          </a:p>
        </p:txBody>
      </p:sp>
      <p:sp>
        <p:nvSpPr>
          <p:cNvPr id="20" name="card"/>
          <p:cNvSpPr/>
          <p:nvPr/>
        </p:nvSpPr>
        <p:spPr>
          <a:xfrm>
            <a:off x="8897112" y="31546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21" name="icon-bg"/>
          <p:cNvSpPr/>
          <p:nvPr/>
        </p:nvSpPr>
        <p:spPr>
          <a:xfrm>
            <a:off x="9098280" y="335584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2" name="icon" descr="/tmp/claude-0/-home-user-ScoutPro/8d0e02b1-06d6-550b-959b-bfe209a9450e/scratchpad/build/gen/icons/TbSoccerF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981" y="3476549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765792" y="33558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底线球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9098280" y="402336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防守方在本方球门线附近运球入场，对方退到中线以后。</a:t>
            </a:r>
            <a:endParaRPr lang="en-US" sz="1250" dirty="0"/>
          </a:p>
        </p:txBody>
      </p:sp>
      <p:sp>
        <p:nvSpPr>
          <p:cNvPr id="25" name="card"/>
          <p:cNvSpPr/>
          <p:nvPr/>
        </p:nvSpPr>
        <p:spPr>
          <a:xfrm>
            <a:off x="5943600" y="48006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26" name="icon-bg"/>
          <p:cNvSpPr/>
          <p:nvPr/>
        </p:nvSpPr>
        <p:spPr>
          <a:xfrm>
            <a:off x="6144768" y="500176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7" name="icon" descr="/tmp/claude-0/-home-user-ScoutPro/8d0e02b1-06d6-550b-959b-bfe209a9450e/scratchpad/build/gen/icons/TbBallFootball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5469" y="5122469"/>
            <a:ext cx="307238" cy="30723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812280" y="50017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开球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6144768" y="56692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可向任意方向，可直接运球；直接射门不得分。</a:t>
            </a:r>
            <a:endParaRPr lang="en-US" sz="1250" dirty="0"/>
          </a:p>
        </p:txBody>
      </p:sp>
      <p:sp>
        <p:nvSpPr>
          <p:cNvPr id="30" name="card"/>
          <p:cNvSpPr/>
          <p:nvPr/>
        </p:nvSpPr>
        <p:spPr>
          <a:xfrm>
            <a:off x="8897112" y="48006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31" name="icon-bg"/>
          <p:cNvSpPr/>
          <p:nvPr/>
        </p:nvSpPr>
        <p:spPr>
          <a:xfrm>
            <a:off x="9098280" y="500176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32" name="icon" descr="/tmp/claude-0/-home-user-ScoutPro/8d0e02b1-06d6-550b-959b-bfe209a9450e/scratchpad/build/gen/icons/TbHandStop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8981" y="5122469"/>
            <a:ext cx="307238" cy="30723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765792" y="50017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犯规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9098280" y="56692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一律间接任意球（退 3 米），不设点球；不铲球。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U8 组 · 5 人制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U8 · 5V5</a:t>
            </a:r>
            <a:endParaRPr lang="en-US" sz="1200" dirty="0"/>
          </a:p>
        </p:txBody>
      </p:sp>
      <p:pic>
        <p:nvPicPr>
          <p:cNvPr id="4" name="pitch" descr="/tmp/claude-0/-home-user-ScoutPro/8d0e02b1-06d6-550b-959b-bfe209a9450e/scratchpad/build/gen/pitch_u8.png">    </p:cNvPr>
          <p:cNvPicPr>
            <a:picLocks noChangeAspect="1"/>
          </p:cNvPicPr>
          <p:nvPr/>
        </p:nvPicPr>
        <p:blipFill>
          <a:blip r:embed="rId1"/>
          <a:srcRect l="0" r="0" t="-7398" b="-7398"/>
          <a:stretch/>
        </p:blipFill>
        <p:spPr>
          <a:xfrm>
            <a:off x="548640" y="1600200"/>
            <a:ext cx="5120640" cy="411480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943600" y="15087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6" name="icon-bg"/>
          <p:cNvSpPr/>
          <p:nvPr/>
        </p:nvSpPr>
        <p:spPr>
          <a:xfrm>
            <a:off x="614476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7" name="icon" descr="/tmp/claude-0/-home-user-ScoutPro/8d0e02b1-06d6-550b-959b-bfe209a9450e/scratchpad/build/gen/icons/Tb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469" y="1830629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12280" y="17099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4 节 × 10 分钟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144768" y="237744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休息 1′ / 3′ / 1′；每队每节可暂停 1 次（≤1 分钟）。</a:t>
            </a:r>
            <a:endParaRPr lang="en-US" sz="1250" dirty="0"/>
          </a:p>
        </p:txBody>
      </p:sp>
      <p:sp>
        <p:nvSpPr>
          <p:cNvPr id="10" name="card"/>
          <p:cNvSpPr/>
          <p:nvPr/>
        </p:nvSpPr>
        <p:spPr>
          <a:xfrm>
            <a:off x="8897112" y="15087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11" name="icon-bg"/>
          <p:cNvSpPr/>
          <p:nvPr/>
        </p:nvSpPr>
        <p:spPr>
          <a:xfrm>
            <a:off x="9098280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2" name="icon" descr="/tmp/claude-0/-home-user-ScoutPro/8d0e02b1-06d6-550b-959b-bfe209a9450e/scratchpad/build/gen/icons/TbShirtSpo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981" y="183062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765792" y="17099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守门员轮换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9098280" y="237744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设守门员，鼓励所有队员轮换担任，穿组委会提供的背心。</a:t>
            </a:r>
            <a:endParaRPr lang="en-US" sz="1250" dirty="0"/>
          </a:p>
        </p:txBody>
      </p:sp>
      <p:sp>
        <p:nvSpPr>
          <p:cNvPr id="15" name="card"/>
          <p:cNvSpPr/>
          <p:nvPr/>
        </p:nvSpPr>
        <p:spPr>
          <a:xfrm>
            <a:off x="5943600" y="31546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16" name="icon-bg"/>
          <p:cNvSpPr/>
          <p:nvPr/>
        </p:nvSpPr>
        <p:spPr>
          <a:xfrm>
            <a:off x="6144768" y="335584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7" name="icon" descr="/tmp/claude-0/-home-user-ScoutPro/8d0e02b1-06d6-550b-959b-bfe209a9450e/scratchpad/build/gen/icons/TbArrowsExchan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469" y="3476549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12280" y="33558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踢球 / 运球入场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144768" y="402336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界外球对方退 5 米，4 秒内发出；直接踢进不算得分。</a:t>
            </a:r>
            <a:endParaRPr lang="en-US" sz="1250" dirty="0"/>
          </a:p>
        </p:txBody>
      </p:sp>
      <p:sp>
        <p:nvSpPr>
          <p:cNvPr id="20" name="card"/>
          <p:cNvSpPr/>
          <p:nvPr/>
        </p:nvSpPr>
        <p:spPr>
          <a:xfrm>
            <a:off x="8897112" y="31546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21" name="icon-bg"/>
          <p:cNvSpPr/>
          <p:nvPr/>
        </p:nvSpPr>
        <p:spPr>
          <a:xfrm>
            <a:off x="9098280" y="335584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2" name="icon" descr="/tmp/claude-0/-home-user-ScoutPro/8d0e02b1-06d6-550b-959b-bfe209a9450e/scratchpad/build/gen/icons/TbSoccerF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981" y="3476549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765792" y="33558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退守线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9098280" y="402336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球门球由守门员发出，对方退到中线以后，直至本方另一人触球。</a:t>
            </a:r>
            <a:endParaRPr lang="en-US" sz="1250" dirty="0"/>
          </a:p>
        </p:txBody>
      </p:sp>
      <p:sp>
        <p:nvSpPr>
          <p:cNvPr id="25" name="card"/>
          <p:cNvSpPr/>
          <p:nvPr/>
        </p:nvSpPr>
        <p:spPr>
          <a:xfrm>
            <a:off x="5943600" y="48006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26" name="icon-bg"/>
          <p:cNvSpPr/>
          <p:nvPr/>
        </p:nvSpPr>
        <p:spPr>
          <a:xfrm>
            <a:off x="6144768" y="500176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7" name="icon" descr="/tmp/claude-0/-home-user-ScoutPro/8d0e02b1-06d6-550b-959b-bfe209a9450e/scratchpad/build/gen/icons/TbFlag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5469" y="5122469"/>
            <a:ext cx="307238" cy="30723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812280" y="50017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角球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6144768" y="56692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运球或传球入场，防守队员退 5 米。</a:t>
            </a:r>
            <a:endParaRPr lang="en-US" sz="1250" dirty="0"/>
          </a:p>
        </p:txBody>
      </p:sp>
      <p:sp>
        <p:nvSpPr>
          <p:cNvPr id="30" name="card"/>
          <p:cNvSpPr/>
          <p:nvPr/>
        </p:nvSpPr>
        <p:spPr>
          <a:xfrm>
            <a:off x="8897112" y="48006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31" name="icon-bg"/>
          <p:cNvSpPr/>
          <p:nvPr/>
        </p:nvSpPr>
        <p:spPr>
          <a:xfrm>
            <a:off x="9098280" y="500176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32" name="icon" descr="/tmp/claude-0/-home-user-ScoutPro/8d0e02b1-06d6-550b-959b-bfe209a9450e/scratchpad/build/gen/icons/TbHandStop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8981" y="5122469"/>
            <a:ext cx="307238" cy="30723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765792" y="50017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犯规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9098280" y="56692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按五人制规则判罚，罚球区内直接任意球犯规判点球。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U10 组 · 5 人制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U10 · 5V5</a:t>
            </a:r>
            <a:endParaRPr lang="en-US" sz="1200" dirty="0"/>
          </a:p>
        </p:txBody>
      </p:sp>
      <p:pic>
        <p:nvPicPr>
          <p:cNvPr id="4" name="pitch" descr="/tmp/claude-0/-home-user-ScoutPro/8d0e02b1-06d6-550b-959b-bfe209a9450e/scratchpad/build/gen/pitch_u10.png">    </p:cNvPr>
          <p:cNvPicPr>
            <a:picLocks noChangeAspect="1"/>
          </p:cNvPicPr>
          <p:nvPr/>
        </p:nvPicPr>
        <p:blipFill>
          <a:blip r:embed="rId1"/>
          <a:srcRect l="0" r="0" t="-7398" b="-7398"/>
          <a:stretch/>
        </p:blipFill>
        <p:spPr>
          <a:xfrm>
            <a:off x="548640" y="1600200"/>
            <a:ext cx="5120640" cy="411480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943600" y="15087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6" name="icon-bg"/>
          <p:cNvSpPr/>
          <p:nvPr/>
        </p:nvSpPr>
        <p:spPr>
          <a:xfrm>
            <a:off x="614476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7" name="icon" descr="/tmp/claude-0/-home-user-ScoutPro/8d0e02b1-06d6-550b-959b-bfe209a9450e/scratchpad/build/gen/icons/Tb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469" y="1830629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12280" y="17099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4 节 × 12 分钟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144768" y="237744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休息 1′ / 3′ / 1′；每队每节可暂停 1 次（≤1 分钟）。</a:t>
            </a:r>
            <a:endParaRPr lang="en-US" sz="1250" dirty="0"/>
          </a:p>
        </p:txBody>
      </p:sp>
      <p:sp>
        <p:nvSpPr>
          <p:cNvPr id="10" name="card"/>
          <p:cNvSpPr/>
          <p:nvPr/>
        </p:nvSpPr>
        <p:spPr>
          <a:xfrm>
            <a:off x="8897112" y="15087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11" name="icon-bg"/>
          <p:cNvSpPr/>
          <p:nvPr/>
        </p:nvSpPr>
        <p:spPr>
          <a:xfrm>
            <a:off x="9098280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2" name="icon" descr="/tmp/claude-0/-home-user-ScoutPro/8d0e02b1-06d6-550b-959b-bfe209a9450e/scratchpad/build/gen/icons/TbBallFootbal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981" y="183062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765792" y="17099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4 号球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9098280" y="237744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更大的球、更长的比赛，衔接周六的八人制精英联赛。</a:t>
            </a:r>
            <a:endParaRPr lang="en-US" sz="1250" dirty="0"/>
          </a:p>
        </p:txBody>
      </p:sp>
      <p:sp>
        <p:nvSpPr>
          <p:cNvPr id="15" name="card"/>
          <p:cNvSpPr/>
          <p:nvPr/>
        </p:nvSpPr>
        <p:spPr>
          <a:xfrm>
            <a:off x="5943600" y="31546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16" name="icon-bg"/>
          <p:cNvSpPr/>
          <p:nvPr/>
        </p:nvSpPr>
        <p:spPr>
          <a:xfrm>
            <a:off x="6144768" y="335584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7" name="icon" descr="/tmp/claude-0/-home-user-ScoutPro/8d0e02b1-06d6-550b-959b-bfe209a9450e/scratchpad/build/gen/icons/TbArrowsExchan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469" y="3476549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12280" y="33558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踢球 / 运球入场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144768" y="402336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界外球对方退 5 米，4 秒内发出；直接踢进不算得分。</a:t>
            </a:r>
            <a:endParaRPr lang="en-US" sz="1250" dirty="0"/>
          </a:p>
        </p:txBody>
      </p:sp>
      <p:sp>
        <p:nvSpPr>
          <p:cNvPr id="20" name="card"/>
          <p:cNvSpPr/>
          <p:nvPr/>
        </p:nvSpPr>
        <p:spPr>
          <a:xfrm>
            <a:off x="8897112" y="31546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21" name="icon-bg"/>
          <p:cNvSpPr/>
          <p:nvPr/>
        </p:nvSpPr>
        <p:spPr>
          <a:xfrm>
            <a:off x="9098280" y="335584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2" name="icon" descr="/tmp/claude-0/-home-user-ScoutPro/8d0e02b1-06d6-550b-959b-bfe209a9450e/scratchpad/build/gen/icons/TbSoccerF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981" y="3476549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765792" y="33558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退守线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9098280" y="402336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球门球由守门员发出，对方退到中线以后，鼓励从后场组织。</a:t>
            </a:r>
            <a:endParaRPr lang="en-US" sz="1250" dirty="0"/>
          </a:p>
        </p:txBody>
      </p:sp>
      <p:sp>
        <p:nvSpPr>
          <p:cNvPr id="25" name="card"/>
          <p:cNvSpPr/>
          <p:nvPr/>
        </p:nvSpPr>
        <p:spPr>
          <a:xfrm>
            <a:off x="5943600" y="48006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26" name="icon-bg"/>
          <p:cNvSpPr/>
          <p:nvPr/>
        </p:nvSpPr>
        <p:spPr>
          <a:xfrm>
            <a:off x="6144768" y="500176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7" name="icon" descr="/tmp/claude-0/-home-user-ScoutPro/8d0e02b1-06d6-550b-959b-bfe209a9450e/scratchpad/build/gen/icons/TbShirtSpor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5469" y="5122469"/>
            <a:ext cx="307238" cy="30723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812280" y="50017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守门员轮换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6144768" y="56692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所有队员轮换担任守门员，体验不同位置。</a:t>
            </a:r>
            <a:endParaRPr lang="en-US" sz="1250" dirty="0"/>
          </a:p>
        </p:txBody>
      </p:sp>
      <p:sp>
        <p:nvSpPr>
          <p:cNvPr id="30" name="card"/>
          <p:cNvSpPr/>
          <p:nvPr/>
        </p:nvSpPr>
        <p:spPr>
          <a:xfrm>
            <a:off x="8897112" y="48006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/>
        </p:spPr>
      </p:sp>
      <p:sp>
        <p:nvSpPr>
          <p:cNvPr id="31" name="icon-bg"/>
          <p:cNvSpPr/>
          <p:nvPr/>
        </p:nvSpPr>
        <p:spPr>
          <a:xfrm>
            <a:off x="9098280" y="500176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32" name="icon" descr="/tmp/claude-0/-home-user-ScoutPro/8d0e02b1-06d6-550b-959b-bfe209a9450e/scratchpad/build/gen/icons/TbHandStop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8981" y="5122469"/>
            <a:ext cx="307238" cy="30723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765792" y="50017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犯规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9098280" y="56692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3202F"/>
                </a:solidFill>
              </a:rPr>
              <a:t>按五人制规则判罚，罚球区内直接任意球犯规判点球。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通用规则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RULES FOR ALL GROUPS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2606040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5" name="icon-bg"/>
          <p:cNvSpPr/>
          <p:nvPr/>
        </p:nvSpPr>
        <p:spPr>
          <a:xfrm>
            <a:off x="74980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6" name="icon" descr="/tmp/claude-0/-home-user-ScoutPro/8d0e02b1-06d6-550b-959b-bfe209a9450e/scratchpad/build/gen/icons/TbUserPlu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83062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099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保持竞争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77440"/>
            <a:ext cx="22037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落后 3 球多上 1 人，落后 4 球多上 2 人，最多多上 2 人；分差回落，最后上场的增加队员就近下场。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374136" y="1508760"/>
            <a:ext cx="2606040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10" name="icon-bg"/>
          <p:cNvSpPr/>
          <p:nvPr/>
        </p:nvSpPr>
        <p:spPr>
          <a:xfrm>
            <a:off x="3575304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1" name="icon" descr="/tmp/claude-0/-home-user-ScoutPro/8d0e02b1-06d6-550b-959b-bfe209a9450e/scratchpad/build/gen/icons/TbUsersGrou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005" y="18306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42816" y="17099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全员均等上场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75304" y="2377440"/>
            <a:ext cx="22037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每名到场球员上场时间基本相同、不少于全场一半；尝试不同位置。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199632" y="1508760"/>
            <a:ext cx="2606040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15" name="icon-bg"/>
          <p:cNvSpPr/>
          <p:nvPr/>
        </p:nvSpPr>
        <p:spPr>
          <a:xfrm>
            <a:off x="6400800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6" name="icon" descr="/tmp/claude-0/-home-user-ScoutPro/8d0e02b1-06d6-550b-959b-bfe209a9450e/scratchpad/build/gen/icons/TbArrowsExchang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830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68312" y="17099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滚动换人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2377440"/>
            <a:ext cx="22037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不限次数，不用停表，在换人区击掌上下。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9025128" y="1508760"/>
            <a:ext cx="2606040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20" name="icon-bg"/>
          <p:cNvSpPr/>
          <p:nvPr/>
        </p:nvSpPr>
        <p:spPr>
          <a:xfrm>
            <a:off x="9226296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1" name="icon" descr="/tmp/claude-0/-home-user-ScoutPro/8d0e02b1-06d6-550b-959b-bfe209a9450e/scratchpad/build/gen/icons/TbBallFootbal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6997" y="183062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893808" y="17099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开球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2377440"/>
            <a:ext cx="22037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中线球可向任意方向踢出，但直接射门不算得分；3 人制可直接运球。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548640" y="3950208"/>
            <a:ext cx="2606040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25" name="icon-bg"/>
          <p:cNvSpPr/>
          <p:nvPr/>
        </p:nvSpPr>
        <p:spPr>
          <a:xfrm>
            <a:off x="749808" y="415137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6" name="icon" descr="/tmp/claude-0/-home-user-ScoutPro/8d0e02b1-06d6-550b-959b-bfe209a9450e/scratchpad/build/gen/icons/TbBa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9" y="4272077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41513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不铲球不头球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749808" y="4818888"/>
            <a:ext cx="22037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保护孩子：不能铲球；故意头球视为犯规。</a:t>
            </a:r>
            <a:endParaRPr lang="en-US" sz="1300" dirty="0"/>
          </a:p>
        </p:txBody>
      </p:sp>
      <p:sp>
        <p:nvSpPr>
          <p:cNvPr id="29" name="card"/>
          <p:cNvSpPr/>
          <p:nvPr/>
        </p:nvSpPr>
        <p:spPr>
          <a:xfrm>
            <a:off x="3374136" y="3950208"/>
            <a:ext cx="2606040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30" name="icon-bg"/>
          <p:cNvSpPr/>
          <p:nvPr/>
        </p:nvSpPr>
        <p:spPr>
          <a:xfrm>
            <a:off x="3575304" y="415137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31" name="icon" descr="/tmp/claude-0/-home-user-ScoutPro/8d0e02b1-06d6-550b-959b-bfe209a9450e/scratchpad/build/gen/icons/TbFlag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6005" y="4272077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242816" y="41513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不判越位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3575304" y="4818888"/>
            <a:ext cx="22037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所有组别均不判越位，鼓励孩子大胆进攻。</a:t>
            </a:r>
            <a:endParaRPr lang="en-US" sz="1300" dirty="0"/>
          </a:p>
        </p:txBody>
      </p:sp>
      <p:sp>
        <p:nvSpPr>
          <p:cNvPr id="34" name="card"/>
          <p:cNvSpPr/>
          <p:nvPr/>
        </p:nvSpPr>
        <p:spPr>
          <a:xfrm>
            <a:off x="6199632" y="3950208"/>
            <a:ext cx="2606040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35" name="icon-bg"/>
          <p:cNvSpPr/>
          <p:nvPr/>
        </p:nvSpPr>
        <p:spPr>
          <a:xfrm>
            <a:off x="6400800" y="415137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36" name="icon" descr="/tmp/claude-0/-home-user-ScoutPro/8d0e02b1-06d6-550b-959b-bfe209a9450e/scratchpad/build/gen/icons/TbHeartHandshak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1501" y="4272077"/>
            <a:ext cx="307238" cy="30723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068312" y="41513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绿牌</a:t>
            </a:r>
            <a:endParaRPr lang="en-US" sz="1700" dirty="0"/>
          </a:p>
        </p:txBody>
      </p:sp>
      <p:sp>
        <p:nvSpPr>
          <p:cNvPr id="38" name="Text 29"/>
          <p:cNvSpPr txBox="1"/>
          <p:nvPr/>
        </p:nvSpPr>
        <p:spPr>
          <a:xfrm>
            <a:off x="6400800" y="4818888"/>
            <a:ext cx="22037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诚实、友善、尊重对手的行为获得绿牌表彰。</a:t>
            </a:r>
            <a:endParaRPr lang="en-US" sz="1300" dirty="0"/>
          </a:p>
        </p:txBody>
      </p:sp>
      <p:sp>
        <p:nvSpPr>
          <p:cNvPr id="39" name="card"/>
          <p:cNvSpPr/>
          <p:nvPr/>
        </p:nvSpPr>
        <p:spPr>
          <a:xfrm>
            <a:off x="9025128" y="3950208"/>
            <a:ext cx="2606040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40" name="icon-bg"/>
          <p:cNvSpPr/>
          <p:nvPr/>
        </p:nvSpPr>
        <p:spPr>
          <a:xfrm>
            <a:off x="9226296" y="415137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41" name="icon" descr="/tmp/claude-0/-home-user-ScoutPro/8d0e02b1-06d6-550b-959b-bfe209a9450e/scratchpad/build/gen/icons/TbMoodHappy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6997" y="4272077"/>
            <a:ext cx="307238" cy="30723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893808" y="41513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每个人都是冠军</a:t>
            </a:r>
            <a:endParaRPr lang="en-US" sz="1700" dirty="0"/>
          </a:p>
        </p:txBody>
      </p:sp>
      <p:sp>
        <p:nvSpPr>
          <p:cNvPr id="43" name="Text 33"/>
          <p:cNvSpPr txBox="1"/>
          <p:nvPr/>
        </p:nvSpPr>
        <p:spPr>
          <a:xfrm>
            <a:off x="9226296" y="4818888"/>
            <a:ext cx="22037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不设冠亚季军、不统计积分、不公布赛果；每名小球员都获得完赛奖牌与证书。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国际经验，本土实践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INTERNATIONAL REFERENCES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413248" cy="2148840"/>
          </a:xfrm>
          <a:prstGeom prst="roundRect">
            <a:avLst>
              <a:gd name="adj" fmla="val 5106"/>
            </a:avLst>
          </a:prstGeom>
          <a:solidFill>
            <a:srgbClr val="F5F8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69164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2545"/>
                </a:solidFill>
              </a:rPr>
              <a:t>英格兰足总 The FA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956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“Future Fit”赛制：U7 3v3，U8–U9 5v5；运球入场、退守线、滚动换人；U11 及以下不公布比分与积分榜。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4518E"/>
                </a:solidFill>
              </a:rPr>
              <a:t>本联赛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U6 3v3、U8/U10 5v5；运球入场、退守线；不公布赛果。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6190488" y="1508760"/>
            <a:ext cx="5413248" cy="2148840"/>
          </a:xfrm>
          <a:prstGeom prst="roundRect">
            <a:avLst>
              <a:gd name="adj" fmla="val 5106"/>
            </a:avLst>
          </a:prstGeom>
          <a:solidFill>
            <a:srgbClr val="F5F8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9088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424928" y="169164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2545"/>
                </a:solidFill>
              </a:rPr>
              <a:t>德国足协 DFB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240280"/>
            <a:ext cx="4956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2024/25 起推行儿童足球新赛制：小场、少人数、多球门、轮换上场，低龄段取消冠军联赛。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301752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4518E"/>
                </a:solidFill>
              </a:rPr>
              <a:t>本联赛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小场地、少人数、全员均等上场、不设冠军。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548640" y="3886200"/>
            <a:ext cx="5413248" cy="2148840"/>
          </a:xfrm>
          <a:prstGeom prst="roundRect">
            <a:avLst>
              <a:gd name="adj" fmla="val 5106"/>
            </a:avLst>
          </a:prstGeom>
          <a:solidFill>
            <a:srgbClr val="F5F8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JP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406908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2545"/>
                </a:solidFill>
              </a:rPr>
              <a:t>日本足球协会 JFA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617720"/>
            <a:ext cx="4956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キッズ（U-6/U-8）节庆式比赛，不记录结果与名次；“最佳支持者”家长手册。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9496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4518E"/>
                </a:solidFill>
              </a:rPr>
              <a:t>本联赛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每个人都是冠军；家长只加油、不指挥。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6190488" y="3886200"/>
            <a:ext cx="5413248" cy="2148840"/>
          </a:xfrm>
          <a:prstGeom prst="roundRect">
            <a:avLst>
              <a:gd name="adj" fmla="val 5106"/>
            </a:avLst>
          </a:prstGeom>
          <a:solidFill>
            <a:srgbClr val="F5F8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9088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451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NL·AU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424928" y="406908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2545"/>
                </a:solidFill>
              </a:rPr>
              <a:t>荷兰 KNVB · 澳大利亚 MiniRoos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4617720"/>
            <a:ext cx="4956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6v6 场边引导员、不公布结果；MiniRoos 全年龄段不记比分、不设积分榜。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539496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4518E"/>
                </a:solidFill>
              </a:rPr>
              <a:t>本联赛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3202F"/>
                </a:solidFill>
              </a:rPr>
              <a:t>场地引导员执裁，以教育与引导为主。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为了每个人更好的成长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A BETTER ENVIRONMENT TO GROW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/>
        </p:spPr>
      </p:sp>
      <p:sp>
        <p:nvSpPr>
          <p:cNvPr id="5" name="icon-bg"/>
          <p:cNvSpPr/>
          <p:nvPr/>
        </p:nvSpPr>
        <p:spPr>
          <a:xfrm>
            <a:off x="74980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6" name="icon" descr="/tmp/claude-0/-home-user-ScoutPro/8d0e02b1-06d6-550b-959b-bfe209a9450e/scratchpad/build/gen/icons/TbUserPlu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83062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099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落后三球，多上一人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77440"/>
            <a:ext cx="2706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保持竞争，每一场比赛都有悬念。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877056" y="1508760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/>
        </p:spPr>
      </p:sp>
      <p:sp>
        <p:nvSpPr>
          <p:cNvPr id="10" name="icon-bg"/>
          <p:cNvSpPr/>
          <p:nvPr/>
        </p:nvSpPr>
        <p:spPr>
          <a:xfrm>
            <a:off x="4078224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1" name="icon" descr="/tmp/claude-0/-home-user-ScoutPro/8d0e02b1-06d6-550b-959b-bfe209a9450e/scratchpad/build/gen/icons/TbUsersGrou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925" y="18306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45736" y="17099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到场球员上场时间相同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078224" y="2377440"/>
            <a:ext cx="2706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每个人都有在比赛中成长的机会。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922776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/>
        </p:spPr>
      </p:sp>
      <p:sp>
        <p:nvSpPr>
          <p:cNvPr id="15" name="icon-bg"/>
          <p:cNvSpPr/>
          <p:nvPr/>
        </p:nvSpPr>
        <p:spPr>
          <a:xfrm>
            <a:off x="749808" y="4123944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6" name="icon" descr="/tmp/claude-0/-home-user-ScoutPro/8d0e02b1-06d6-550b-959b-bfe209a9450e/scratchpad/build/gen/icons/TbRotat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4244645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41239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轮换比赛位置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49808" y="4791456"/>
            <a:ext cx="2706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前锋、后卫、守门员，都试一试。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3877056" y="3922776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/>
        </p:spPr>
      </p:sp>
      <p:sp>
        <p:nvSpPr>
          <p:cNvPr id="20" name="icon-bg"/>
          <p:cNvSpPr/>
          <p:nvPr/>
        </p:nvSpPr>
        <p:spPr>
          <a:xfrm>
            <a:off x="4078224" y="4123944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1" name="icon" descr="/tmp/claude-0/-home-user-ScoutPro/8d0e02b1-06d6-550b-959b-bfe209a9450e/scratchpad/build/gen/icons/TbMessage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925" y="4244645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745736" y="41239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提问代替遥控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078224" y="4791456"/>
            <a:ext cx="2706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教练员向球员提问，让孩子自己作决定。</a:t>
            </a:r>
            <a:endParaRPr lang="en-US" sz="1400" dirty="0"/>
          </a:p>
        </p:txBody>
      </p:sp>
      <p:pic>
        <p:nvPicPr>
          <p:cNvPr id="24" name="growth-card" descr="/tmp/claude-0/-home-user-ScoutPro/8d0e02b1-06d6-550b-959b-bfe209a9450e/scratchpad/out/01_VI视觉识别系统/assets/applications/growth-card_yout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600200"/>
            <a:ext cx="4343400" cy="27432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69480" y="452628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B80"/>
                </a:solidFill>
              </a:rPr>
              <a:t>我的成长卡：教练赛后发给每个孩子——今天勇敢尝试了什么？帮助了谁？下次想做得更好的是什么？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家长与教练员守则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CODES OF CONDUCT · RESPECT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F5F8FB"/>
          </a:solidFill>
          <a:ln/>
        </p:spPr>
      </p:sp>
      <p:sp>
        <p:nvSpPr>
          <p:cNvPr id="5" name="icon-bg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2FB45A"/>
          </a:solidFill>
          <a:ln/>
        </p:spPr>
      </p:sp>
      <p:pic>
        <p:nvPicPr>
          <p:cNvPr id="6" name="icon" descr="/tmp/claude-0/-home-user-ScoutPro/8d0e02b1-06d6-550b-959b-bfe209a9450e/scratchpad/build/gen/icons/TbHe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81636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91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B2545"/>
                </a:solidFill>
              </a:rPr>
              <a:t>家长守则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363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家长须停留在家长观赛区（与边线保持至少 2 米距离），可以为孩子加油、鼓掌。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不得有干扰球员决策的行为：不在场边指挥、命令，不对任何球员打骂、讽刺、威胁、嘲笑。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比赛进行中不进入场地为孩子擦汗、喂水、拿书包等（球员受伤等特殊情况除外，须经执裁人员示意）。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尊重执裁人员（执裁教练 / 场地引导员）的判罚，不指责球员、教练员、执裁人员和组委会工作人员。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赛后多问孩子“今天开心吗？尝试了什么？”，少问“赢了吗？进了几个球？”。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25112" y="150876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F5F8FB"/>
          </a:solidFill>
          <a:ln/>
        </p:spPr>
      </p:sp>
      <p:sp>
        <p:nvSpPr>
          <p:cNvPr id="10" name="icon-bg"/>
          <p:cNvSpPr/>
          <p:nvPr/>
        </p:nvSpPr>
        <p:spPr>
          <a:xfrm>
            <a:off x="4553712" y="1691640"/>
            <a:ext cx="566928" cy="566928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1" name="icon" descr="/tmp/claude-0/-home-user-ScoutPro/8d0e02b1-06d6-550b-959b-bfe209a9450e/scratchpad/build/gen/icons/TbMessage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436" y="181636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39512" y="1691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B2545"/>
                </a:solidFill>
              </a:rPr>
              <a:t>教练员守则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2423160"/>
            <a:ext cx="31363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在比赛中可以：指导替补队员、安排换人、向队员提问、为队员加油。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在比赛中不可以：遥控场上球员——如直接命令传球、射门、向左、加速、变向、向后、带球等剥夺球员自主决策的指令。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不得对任何人有打骂、指挥式命令、讽刺、威胁、嘲笑等负面语言行为。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技术战术指导在节间休息、中场休息进行；场边只做简短的鼓励性示意。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保证每一名到场球员的上场时间与位置轮换，如实填写《上场时间记录表》。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01584" y="150876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F5F8FB"/>
          </a:solidFill>
          <a:ln/>
        </p:spPr>
      </p:sp>
      <p:sp>
        <p:nvSpPr>
          <p:cNvPr id="15" name="icon-bg"/>
          <p:cNvSpPr/>
          <p:nvPr/>
        </p:nvSpPr>
        <p:spPr>
          <a:xfrm>
            <a:off x="8330184" y="169164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con" descr="/tmp/claude-0/-home-user-ScoutPro/8d0e02b1-06d6-550b-959b-bfe209a9450e/scratchpad/build/gen/icons/TbBallFootbal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908" y="181636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15984" y="1691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B2545"/>
                </a:solidFill>
              </a:rPr>
              <a:t>球员守则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30184" y="2423160"/>
            <a:ext cx="31363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尊重对手、队友、执裁人员和观众；赛前赛后与对手握手。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全力以赴，胜不骄、败不馁；大胆尝试，不怕失误。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诚实比赛：球出界、碰手球主动承认；对手摔倒主动扶起。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202F"/>
                </a:solidFill>
              </a:rPr>
              <a:t>服从执裁，有疑问请队长礼貌询问。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丰富且受欢迎的纪念品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AWARDS &amp; MEMORIES</a:t>
            </a:r>
            <a:endParaRPr lang="en-US" sz="1200" dirty="0"/>
          </a:p>
        </p:txBody>
      </p:sp>
      <p:pic>
        <p:nvPicPr>
          <p:cNvPr id="4" name="photo" descr="/tmp/claude-0/-home-user-ScoutPro/8d0e02b1-06d6-550b-959b-bfe209a9450e/scratchpad/build/photos/p9_x5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4754880" cy="466344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577840" y="1508760"/>
            <a:ext cx="2926080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6" name="icon-bg"/>
          <p:cNvSpPr/>
          <p:nvPr/>
        </p:nvSpPr>
        <p:spPr>
          <a:xfrm>
            <a:off x="577900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7" name="icon" descr="/tmp/claude-0/-home-user-ScoutPro/8d0e02b1-06d6-550b-959b-bfe209a9450e/scratchpad/build/gen/icons/TbMeda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709" y="1830629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46520" y="17099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每一名小球员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779008" y="2377440"/>
            <a:ext cx="25237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完赛奖牌 + 完赛证书 + 比赛纪念品 + 比赛手册。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714232" y="1508760"/>
            <a:ext cx="2926080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11" name="icon-bg"/>
          <p:cNvSpPr/>
          <p:nvPr/>
        </p:nvSpPr>
        <p:spPr>
          <a:xfrm>
            <a:off x="8915400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2" name="icon" descr="/tmp/claude-0/-home-user-ScoutPro/8d0e02b1-06d6-550b-959b-bfe209a9450e/scratchpad/build/gen/icons/TbSta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101" y="183062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582912" y="17099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成长之星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8915400" y="2377440"/>
            <a:ext cx="25237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每队教练推选进步最大的 2 名球员，奖品 + 证书。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577840" y="3959352"/>
            <a:ext cx="2926080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16" name="icon-bg"/>
          <p:cNvSpPr/>
          <p:nvPr/>
        </p:nvSpPr>
        <p:spPr>
          <a:xfrm>
            <a:off x="5779008" y="4160520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7" name="icon" descr="/tmp/claude-0/-home-user-ScoutPro/8d0e02b1-06d6-550b-959b-bfe209a9450e/scratchpad/build/gen/icons/TbAw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709" y="428122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46520" y="4160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优秀教练与执裁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5779008" y="4828032"/>
            <a:ext cx="25237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感谢陪伴孩子成长的大人们，奖品 + 证书。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8714232" y="3959352"/>
            <a:ext cx="2926080" cy="2212848"/>
          </a:xfrm>
          <a:prstGeom prst="roundRect">
            <a:avLst>
              <a:gd name="adj" fmla="val 4959"/>
            </a:avLst>
          </a:prstGeom>
          <a:solidFill>
            <a:srgbClr val="F5F8FB"/>
          </a:solidFill>
          <a:ln/>
        </p:spPr>
      </p:sp>
      <p:sp>
        <p:nvSpPr>
          <p:cNvPr id="21" name="icon-bg"/>
          <p:cNvSpPr/>
          <p:nvPr/>
        </p:nvSpPr>
        <p:spPr>
          <a:xfrm>
            <a:off x="8915400" y="4160520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2" name="icon" descr="/tmp/claude-0/-home-user-ScoutPro/8d0e02b1-06d6-550b-959b-bfe209a9450e/scratchpad/build/gen/icons/TbHeartHandshak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101" y="4281221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582912" y="4160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公平竞赛与志愿者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8915400" y="4828032"/>
            <a:ext cx="25237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绿牌多、纪律好的球队；赛场上的志愿者。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现在报名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HOW TO JOIN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/>
        </p:spPr>
      </p:sp>
      <p:sp>
        <p:nvSpPr>
          <p:cNvPr id="5" name="icon-bg"/>
          <p:cNvSpPr/>
          <p:nvPr/>
        </p:nvSpPr>
        <p:spPr>
          <a:xfrm>
            <a:off x="749808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6" name="icon" descr="/tmp/claude-0/-home-user-ScoutPro/8d0e02b1-06d6-550b-959b-bfe209a9450e/scratchpad/build/gen/icons/TbBuildingCommunit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83062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099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报名单位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77440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俱乐部、学校、班级、小区、好朋友等组队均可；每个单位可同时报名多个年龄组。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90488" y="150876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/>
        </p:spPr>
      </p:sp>
      <p:sp>
        <p:nvSpPr>
          <p:cNvPr id="10" name="icon-bg"/>
          <p:cNvSpPr/>
          <p:nvPr/>
        </p:nvSpPr>
        <p:spPr>
          <a:xfrm>
            <a:off x="6391656" y="1709928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1" name="icon" descr="/tmp/claude-0/-home-user-ScoutPro/8d0e02b1-06d6-550b-959b-bfe209a9450e/scratchpad/build/gen/icons/Tb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357" y="18306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59168" y="17099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报名人数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391656" y="2377440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U6 建议 5–6 人（最多 6 人）；U8、U10 建议 8–10 人（最多 10 人）；教练 1 人 + 领队 / 翻译 1 人。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493008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/>
        </p:spPr>
      </p:sp>
      <p:sp>
        <p:nvSpPr>
          <p:cNvPr id="15" name="icon-bg"/>
          <p:cNvSpPr/>
          <p:nvPr/>
        </p:nvSpPr>
        <p:spPr>
          <a:xfrm>
            <a:off x="749808" y="369417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16" name="icon" descr="/tmp/claude-0/-home-user-ScoutPro/8d0e02b1-06d6-550b-959b-bfe209a9450e/scratchpad/build/gen/icons/TbChecklis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3814877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6941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报名资料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49808" y="4361688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参赛报名表；个人报名表（肖像权协议、参赛承诺书、个人资料、意外险证明）；球队集体照。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190488" y="3493008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/>
        </p:spPr>
      </p:sp>
      <p:sp>
        <p:nvSpPr>
          <p:cNvPr id="20" name="icon-bg"/>
          <p:cNvSpPr/>
          <p:nvPr/>
        </p:nvSpPr>
        <p:spPr>
          <a:xfrm>
            <a:off x="6391656" y="3694176"/>
            <a:ext cx="548640" cy="548640"/>
          </a:xfrm>
          <a:prstGeom prst="ellipse">
            <a:avLst/>
          </a:prstGeom>
          <a:solidFill>
            <a:srgbClr val="04518E"/>
          </a:solidFill>
          <a:ln/>
        </p:spPr>
      </p:sp>
      <p:pic>
        <p:nvPicPr>
          <p:cNvPr id="21" name="icon" descr="/tmp/claude-0/-home-user-ScoutPro/8d0e02b1-06d6-550b-959b-bfe209a9450e/scratchpad/build/gen/icons/TbShield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357" y="3814877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59168" y="36941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B2545"/>
                </a:solidFill>
              </a:rPr>
              <a:t>保险与安全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391656" y="4361688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须购买人身意外伤害保险，组委会另免费提供附加意外险；头部伤害“有疑问，就下场”。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E8F6EC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77240" y="5532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FB45A"/>
                </a:solidFill>
              </a:rPr>
              <a:t>报名咨询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02F"/>
                </a:solidFill>
              </a:rPr>
              <a:t>19980720350（杨老师）　·　PYLCTU@163.com　·　比赛费用与保证金以《报名通知》为准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4518E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为了每个人更好的成长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FOR BETTER GROWTH OF EVERYONE</a:t>
            </a:r>
            <a:endParaRPr lang="en-US" sz="2600" dirty="0"/>
          </a:p>
        </p:txBody>
      </p:sp>
      <p:pic>
        <p:nvPicPr>
          <p:cNvPr id="4" name="logo" descr="/tmp/claude-0/-home-user-ScoutPro/8d0e02b1-06d6-550b-959b-bfe209a9450e/scratchpad/out/01_VI视觉识别系统/assets/logo/panda-logo_youth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417320"/>
            <a:ext cx="320040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报名咨询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D6E6"/>
                </a:solidFill>
              </a:rPr>
              <a:t>19980720350（杨老师）　·　PYLCTU@163.com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6E6"/>
                </a:solidFill>
              </a:rPr>
              <a:t>比赛地点：四川新北足球中心　·　每周日上午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da youth">
  <a:themeElements>
    <a:clrScheme name="Panda youth">
      <a:dk1>
        <a:srgbClr val="13202F"/>
      </a:dk1>
      <a:lt1>
        <a:srgbClr val="FFFFFF"/>
      </a:lt1>
      <a:dk2>
        <a:srgbClr val="0B2545"/>
      </a:dk2>
      <a:lt2>
        <a:srgbClr val="E6EEF6"/>
      </a:lt2>
      <a:accent1>
        <a:srgbClr val="04518E"/>
      </a:accent1>
      <a:accent2>
        <a:srgbClr val="2FB45A"/>
      </a:accent2>
      <a:accent3>
        <a:srgbClr val="1E9BD7"/>
      </a:accent3>
      <a:accent4>
        <a:srgbClr val="F26A2E"/>
      </a:accent4>
      <a:accent5>
        <a:srgbClr val="FFC72C"/>
      </a:accent5>
      <a:accent6>
        <a:srgbClr val="5A6B80"/>
      </a:accent6>
      <a:hlink>
        <a:srgbClr val="04518E"/>
      </a:hlink>
      <a:folHlink>
        <a:srgbClr val="5A6B80"/>
      </a:folHlink>
    </a:clrScheme>
    <a:fontScheme name="Panda youth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成都高新区足球协会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熊猫少儿足球联赛（秋季） 比赛介绍</dc:title>
  <dc:subject>PptxGenJS Presentation</dc:subject>
  <dc:creator>成都高新区足球协会</dc:creator>
  <cp:lastModifiedBy>成都高新区足球协会</cp:lastModifiedBy>
  <cp:revision>1</cp:revision>
  <dcterms:created xsi:type="dcterms:W3CDTF">2026-10-16T13:30:43Z</dcterms:created>
  <dcterms:modified xsi:type="dcterms:W3CDTF">2026-10-16T13:30:43Z</dcterms:modified>
</cp:coreProperties>
</file>