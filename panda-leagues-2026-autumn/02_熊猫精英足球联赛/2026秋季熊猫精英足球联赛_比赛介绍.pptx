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a3964c7-240e-a155-53e5-fff07244bde5}">
          <p14:sldIdLst>
            <p14:sldId id="256"/>
          </p14:sldIdLst>
        </p14:section>
        <p14:section name="关于联赛" id="{53ebd1c0-7083-da1a-4a1b-249990098f75}">
          <p14:sldIdLst>
            <p14:sldId id="257"/>
            <p14:sldId id="258"/>
            <p14:sldId id="259"/>
          </p14:sldIdLst>
        </p14:section>
        <p14:section name="赛事概览" id="{0eab11e3-66cf-a235-a344-c25cbdb48bc9}">
          <p14:sldIdLst>
            <p14:sldId id="260"/>
            <p14:sldId id="261"/>
          </p14:sldIdLst>
        </p14:section>
        <p14:section name="特色规则" id="{027361a8-17cd-9e45-7d18-f3916d3ac192}">
          <p14:sldIdLst>
            <p14:sldId id="262"/>
            <p14:sldId id="263"/>
            <p14:sldId id="264"/>
            <p14:sldId id="265"/>
            <p14:sldId id="266"/>
          </p14:sldIdLst>
        </p14:section>
        <p14:section name="参赛须知" id="{55e63440-c802-d3fb-99f7-67814d8f741f}">
          <p14:sldIdLst>
            <p14:sldId id="267"/>
            <p14:sldId id="268"/>
            <p14:sldId id="269"/>
          </p14:sldIdLst>
        </p14:section>
        <p14:section name="结束" id="{43baa926-4cf9-a7ca-cb12-05c49867515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 熊猫精英足球联赛（秋季）比赛介绍。核心理念：为了每个人更好的成长。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熊猫精英联赛延续熊猫联赛“联赛制、常态化”的传统，2026 春季首届，本季为第二个赛季。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四个关键词贯穿全部规则设计：成长、尊重、快乐、公平。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左侧为当前同类赛事的常见问题，右侧为熊猫精英联赛的对应做法。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 2026 春季相比，本季的主要调整在最后一行。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每一条特色规则都有国际实践作为依据，并结合成都本地青少年足球的实际情况调整。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“少数主力打满全场”是我们最想改变的现象。均等上场写进竞赛规程，未执行的球队将被警告，累计两次取消团体奖项评选资格。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“保持竞争”是熊猫联赛自 2017 年以来的传统规则。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教练执裁与放宽尺度，是熊猫精英联赛最有特色、也最需要各方理解的两条规则。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三条规则共同的出发点：让孩子在出错后仍有机会，在诚实与善意中被看见。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场地布置示意，实际以比赛当日场地标识为准。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三方守则来自本联赛《规则精要》，参照英格兰足总 Respect 计划和日本足协“最佳支持者”家长手册。核心：不遥控、多鼓励、尊重执裁。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冠亚季军之外，更多奖项面向每一名球员的付出与努力。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报名资料一经提交原则上不得更改；因伤病可在赛程过半前申请补报。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感谢聆听。欢迎各俱乐部、学校、班级、小区与好朋友组队报名。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coutPro/8d0e02b1-06d6-550b-959b-bfe209a9450e/scratchpad/out/01_VI视觉识别系统/assets/logo/panda-logo_elite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34747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</a:rPr>
              <a:t>熊猫精英足球联赛 · 2026 秋季比赛介绍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熊猫精英足球联赛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PANDA ELITE LEAGUE · 2026 AUTUMN</a:t>
            </a:r>
            <a:endParaRPr lang="en-US" sz="2600" dirty="0"/>
          </a:p>
        </p:txBody>
      </p:sp>
      <p:pic>
        <p:nvPicPr>
          <p:cNvPr id="4" name="logo" descr="/tmp/claude-0/-home-user-ScoutPro/8d0e02b1-06d6-550b-959b-bfe209a9450e/scratchpad/out/01_VI视觉识别系统/assets/logo/panda-logo_elite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1732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977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2026 秋季赛季 · 比赛介绍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6E6"/>
                </a:solidFill>
              </a:rPr>
              <a:t>U10 / U11　·　8 人制　·　每周六下午　·　四川新北足球中心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6D1"/>
                </a:solidFill>
              </a:rPr>
              <a:t>主办：成都高新区足球协会　四川新北体育文化传播有限公司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我们是谁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ABOUT THE LEAGUE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B2545"/>
                </a:solidFill>
              </a:rPr>
              <a:t>熊猫精英足球联赛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3202F"/>
                </a:solidFill>
              </a:rPr>
              <a:t>由成都高新区足球协会与四川新北体育文化传播有限公司联合主办、新北体育赛区组委会运营，聚焦 U10、U11 两个年龄组的八人制比赛。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3202F"/>
                </a:solidFill>
              </a:rPr>
              <a:t>它是始于 2017 年的熊猫少儿足球联赛的进阶平台：当孩子从 3 人制、5 人制成长到 8 人制，熊猫联赛继续陪伴他们，在更大的场地上接受更完整的比赛。</a:t>
            </a:r>
            <a:endParaRPr lang="en-US" sz="1500" dirty="0"/>
          </a:p>
        </p:txBody>
      </p:sp>
      <p:pic>
        <p:nvPicPr>
          <p:cNvPr id="5" name="photo" descr="/tmp/claude-0/-home-user-ScoutPro/8d0e02b1-06d6-550b-959b-bfe209a9450e/scratchpad/build/photos/p5_x3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508760"/>
            <a:ext cx="5605272" cy="31546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48640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2017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熊猫联赛创办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8708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61588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1500+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561588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年均组织比赛场次经验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208776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91656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组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391656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U10 · U11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9038844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221724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每周六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221724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下午 · 常态化联赛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办赛理念：以球员成长为中心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PLAYER-CENTRED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04518E"/>
                </a:solidFill>
              </a:rPr>
              <a:t>为了每个人更好的成长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spc="200" kern="0" dirty="0">
                <a:solidFill>
                  <a:srgbClr val="5A6B80"/>
                </a:solidFill>
              </a:rPr>
              <a:t>FOR BETTER GROWTH OF EVERYONE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3202F"/>
                </a:solidFill>
              </a:rPr>
              <a:t>比赛是足球运动的核心。我们希望每一位教练和家长更关注孩子长期的成长，而不只是眼前一场比赛的输赢或一届比赛的名次。</a:t>
            </a:r>
            <a:endParaRPr lang="en-US" sz="1500" dirty="0"/>
          </a:p>
        </p:txBody>
      </p:sp>
      <p:pic>
        <p:nvPicPr>
          <p:cNvPr id="7" name="photo" descr="/tmp/claude-0/-home-user-ScoutPro/8d0e02b1-06d6-550b-959b-bfe209a9450e/scratchpad/build/photos/p4_x2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663440"/>
            <a:ext cx="4572000" cy="1508760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5577840" y="150876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9" name="icon-bg"/>
          <p:cNvSpPr/>
          <p:nvPr/>
        </p:nvSpPr>
        <p:spPr>
          <a:xfrm>
            <a:off x="57790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0" name="icon" descr="/tmp/claude-0/-home-user-ScoutPro/8d0e02b1-06d6-550b-959b-bfe209a9450e/scratchpad/build/gen/icons/TbSeedl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09" y="1830629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1709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成长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79008" y="237744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以赛促练，每一次触球、每一次尝试都是成长。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732520" y="150876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14" name="icon-bg"/>
          <p:cNvSpPr/>
          <p:nvPr/>
        </p:nvSpPr>
        <p:spPr>
          <a:xfrm>
            <a:off x="893368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5" name="icon" descr="/tmp/claude-0/-home-user-ScoutPro/8d0e02b1-06d6-550b-959b-bfe209a9450e/scratchpad/build/gen/icons/TbHeart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389" y="1830629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01200" y="1709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尊重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933688" y="237744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尊重对手、队友、执裁者；握手与致谢。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577840" y="393192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19" name="icon-bg"/>
          <p:cNvSpPr/>
          <p:nvPr/>
        </p:nvSpPr>
        <p:spPr>
          <a:xfrm>
            <a:off x="5779008" y="413308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0" name="icon" descr="/tmp/claude-0/-home-user-ScoutPro/8d0e02b1-06d6-550b-959b-bfe209a9450e/scratchpad/build/gen/icons/TbMoodHapp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709" y="4253789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46520" y="41330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快乐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79008" y="480060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充足的上场时间，自由的决策空间。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732520" y="393192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24" name="icon-bg"/>
          <p:cNvSpPr/>
          <p:nvPr/>
        </p:nvSpPr>
        <p:spPr>
          <a:xfrm>
            <a:off x="8933688" y="413308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5" name="icon" descr="/tmp/claude-0/-home-user-ScoutPro/8d0e02b1-06d6-550b-959b-bfe209a9450e/scratchpad/build/gen/icons/TbSca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4389" y="4253789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01200" y="41330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公平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8933688" y="480060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按实力分组、均等上场、保持竞争。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我们看到的问题，我们的解决办法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PROBLEMS → SOLUTIONS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029200" cy="804672"/>
          </a:xfrm>
          <a:prstGeom prst="roundRect">
            <a:avLst>
              <a:gd name="adj" fmla="val 13636"/>
            </a:avLst>
          </a:prstGeom>
          <a:solidFill>
            <a:srgbClr val="FDEC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2231A"/>
                </a:solidFill>
              </a:rPr>
              <a:t>组队难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人数限制严苛、组队形式单一，小区队、好友队无法参赛</a:t>
            </a:r>
            <a:endParaRPr lang="en-US" sz="1300" dirty="0"/>
          </a:p>
        </p:txBody>
      </p:sp>
      <p:pic>
        <p:nvPicPr>
          <p:cNvPr id="7" name="arrow" descr="/tmp/claude-0/-home-user-ScoutPro/8d0e02b1-06d6-550b-959b-bfe209a9450e/scratchpad/build/gen/icons/TbArrowsExchange_0451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1709928"/>
            <a:ext cx="402336" cy="402336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6291072" y="150876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E7F0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73952" y="160020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4518E"/>
                </a:solidFill>
              </a:rPr>
              <a:t>降低组队门槛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60020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学校、俱乐部、小区、好朋友均可组队；允许混龄，可报大一岁女队员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2441448"/>
            <a:ext cx="5029200" cy="804672"/>
          </a:xfrm>
          <a:prstGeom prst="roundRect">
            <a:avLst>
              <a:gd name="adj" fmla="val 13636"/>
            </a:avLst>
          </a:prstGeom>
          <a:solidFill>
            <a:srgbClr val="FDECE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53288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2231A"/>
                </a:solidFill>
              </a:rPr>
              <a:t>强弱悬殊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011680" y="253288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参赛队伍水平参差不齐，强弱差距过大</a:t>
            </a:r>
            <a:endParaRPr lang="en-US" sz="1300" dirty="0"/>
          </a:p>
        </p:txBody>
      </p:sp>
      <p:pic>
        <p:nvPicPr>
          <p:cNvPr id="14" name="arrow" descr="/tmp/claude-0/-home-user-ScoutPro/8d0e02b1-06d6-550b-959b-bfe209a9450e/scratchpad/build/gen/icons/TbArrowsExchange_0451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642616"/>
            <a:ext cx="402336" cy="402336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6291072" y="2441448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E7F0F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73952" y="253288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4518E"/>
                </a:solidFill>
              </a:rPr>
              <a:t>按实力分组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0" y="253288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级别组循环 + 阶段升降组，比赛双方实力接近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48640" y="3374136"/>
            <a:ext cx="5029200" cy="804672"/>
          </a:xfrm>
          <a:prstGeom prst="roundRect">
            <a:avLst>
              <a:gd name="adj" fmla="val 13636"/>
            </a:avLst>
          </a:prstGeom>
          <a:solidFill>
            <a:srgbClr val="FDECE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1520" y="34655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2231A"/>
                </a:solidFill>
              </a:rPr>
              <a:t>唯胜负论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2011680" y="346557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少数主力打满全场，多数孩子没有上场机会</a:t>
            </a:r>
            <a:endParaRPr lang="en-US" sz="1300" dirty="0"/>
          </a:p>
        </p:txBody>
      </p:sp>
      <p:pic>
        <p:nvPicPr>
          <p:cNvPr id="21" name="arrow" descr="/tmp/claude-0/-home-user-ScoutPro/8d0e02b1-06d6-550b-959b-bfe209a9450e/scratchpad/build/gen/icons/TbArrowsExchange_0451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575304"/>
            <a:ext cx="402336" cy="402336"/>
          </a:xfrm>
          <a:prstGeom prst="rect">
            <a:avLst/>
          </a:prstGeom>
        </p:spPr>
      </p:pic>
      <p:sp>
        <p:nvSpPr>
          <p:cNvPr id="22" name="card"/>
          <p:cNvSpPr/>
          <p:nvPr/>
        </p:nvSpPr>
        <p:spPr>
          <a:xfrm>
            <a:off x="6291072" y="3374136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E7F0F9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473952" y="346557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4518E"/>
                </a:solidFill>
              </a:rPr>
              <a:t>全员均等上场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092440" y="346557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每人上场 ≥ 全场一半，位置轮换（含守门员）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48640" y="4306824"/>
            <a:ext cx="5029200" cy="804672"/>
          </a:xfrm>
          <a:prstGeom prst="roundRect">
            <a:avLst>
              <a:gd name="adj" fmla="val 13636"/>
            </a:avLst>
          </a:prstGeom>
          <a:solidFill>
            <a:srgbClr val="FDECE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31520" y="439826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2231A"/>
                </a:solidFill>
              </a:rPr>
              <a:t>训练脱节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2011680" y="439826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缺少真实比赛中的应变与团队配合</a:t>
            </a:r>
            <a:endParaRPr lang="en-US" sz="1300" dirty="0"/>
          </a:p>
        </p:txBody>
      </p:sp>
      <p:pic>
        <p:nvPicPr>
          <p:cNvPr id="28" name="arrow" descr="/tmp/claude-0/-home-user-ScoutPro/8d0e02b1-06d6-550b-959b-bfe209a9450e/scratchpad/build/gen/icons/TbArrowsExchange_04518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4507992"/>
            <a:ext cx="402336" cy="402336"/>
          </a:xfrm>
          <a:prstGeom prst="rect">
            <a:avLst/>
          </a:prstGeom>
        </p:spPr>
      </p:pic>
      <p:sp>
        <p:nvSpPr>
          <p:cNvPr id="29" name="card"/>
          <p:cNvSpPr/>
          <p:nvPr/>
        </p:nvSpPr>
        <p:spPr>
          <a:xfrm>
            <a:off x="6291072" y="4306824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E7F0F9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473952" y="439826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4518E"/>
                </a:solidFill>
              </a:rPr>
              <a:t>以赛促练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092440" y="439826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参考日本模式：放宽判罚尺度、保持比赛连贯，教练员执裁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548640" y="5239512"/>
            <a:ext cx="5029200" cy="804672"/>
          </a:xfrm>
          <a:prstGeom prst="roundRect">
            <a:avLst>
              <a:gd name="adj" fmla="val 13636"/>
            </a:avLst>
          </a:prstGeom>
          <a:solidFill>
            <a:srgbClr val="FDECEB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31520" y="533095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2231A"/>
                </a:solidFill>
              </a:rPr>
              <a:t>功利心重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2011680" y="533095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过度强调成绩，忽视规则意识与体育精神</a:t>
            </a:r>
            <a:endParaRPr lang="en-US" sz="1300" dirty="0"/>
          </a:p>
        </p:txBody>
      </p:sp>
      <p:pic>
        <p:nvPicPr>
          <p:cNvPr id="35" name="arrow" descr="/tmp/claude-0/-home-user-ScoutPro/8d0e02b1-06d6-550b-959b-bfe209a9450e/scratchpad/build/gen/icons/TbArrowsExchange_04518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5440680"/>
            <a:ext cx="402336" cy="402336"/>
          </a:xfrm>
          <a:prstGeom prst="rect">
            <a:avLst/>
          </a:prstGeom>
        </p:spPr>
      </p:pic>
      <p:sp>
        <p:nvSpPr>
          <p:cNvPr id="36" name="card"/>
          <p:cNvSpPr/>
          <p:nvPr/>
        </p:nvSpPr>
        <p:spPr>
          <a:xfrm>
            <a:off x="6291072" y="5239512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E7F0F9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6473952" y="533095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4518E"/>
                </a:solidFill>
              </a:rPr>
              <a:t>规则与礼仪引导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092440" y="533095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赛场三方守则、赛后致谢礼、绿牌表彰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赛事概览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U10 · U11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2016 / 2015 年 1 月 1 日后出生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378708" y="155448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1588" y="171907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 人制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61588" y="242316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7 名场上球员 + 1 名守门员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208776" y="155448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91656" y="171907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× 20′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42316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四节制，节间可指导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9038844" y="155448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1724" y="171907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号球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21724" y="242316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适合本年龄段身体条件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48640" y="320040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36499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68 × 50 m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0690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参考场地尺寸 · 5 × 2 m 球门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3378708" y="320040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1588" y="336499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∞ 换人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561588" y="40690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滚动换人，击掌上下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6208776" y="320040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91656" y="336499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≥ 50%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40690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每名球员最少上场时间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9038844" y="3200400"/>
            <a:ext cx="260146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21724" y="336499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周六下午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221724" y="40690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四川新北足球中心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本季变化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组别名称改用国际通行“U + 年龄”计法（出生年份与春季 U9/U10 相同）；比赛用球由 5 号调整为 4 号（与日本 JFA U-12、英格兰 9v9 一致）；新增退守线、限制头球、头部伤害“有疑问就下场”。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国际经验，本土实践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INTERNATIONAL REFERENCES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9164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日本足球协会 JFA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U-12 全面推行 8 人制，场地约 68×50 m、4 号球、自由换人；以联赛（リーグ戦）代替一次性淘汰赛。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8 人制 + 自由换人 + 联赛制；放宽判罚尺度、保持比赛连贯。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190488" y="150876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9088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424928" y="169164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英格兰足总 The FA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24028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小场赛制、退守线、滚动换人；建议每名球员上场 ≥50%；Respect 行为守则；U12 及以下限制故意头球。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30175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均等上场、退守线、三方守则、不鼓励头球。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06908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西班牙足协及地区足协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1772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低龄组 Fútbol 7 / 8 分节进行并要求全员参赛；安达卢西亚足协首创“绿牌”表彰公平竞赛。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四节制、全员上场与位置轮换、绿牌。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190488" y="388620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IFAB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24928" y="406908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国际足球理事会 IFAB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61772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青少年与草根足球可使用“暂时罚离（sin bin）”，时长约为比赛时间的 10%–15%。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539496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黄牌 = 暂时罚离 8 分钟到冷静区，球队可立即补人。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全员均等上场，位置轮换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EQUAL PLAYING TIME</a:t>
            </a:r>
            <a:endParaRPr lang="en-US" sz="1200" dirty="0"/>
          </a:p>
        </p:txBody>
      </p:sp>
      <p:sp>
        <p:nvSpPr>
          <p:cNvPr id="4" name="hero"/>
          <p:cNvSpPr/>
          <p:nvPr/>
        </p:nvSpPr>
        <p:spPr>
          <a:xfrm>
            <a:off x="548640" y="1508760"/>
            <a:ext cx="3840480" cy="4663440"/>
          </a:xfrm>
          <a:prstGeom prst="roundRect">
            <a:avLst>
              <a:gd name="adj" fmla="val 2857"/>
            </a:avLst>
          </a:prstGeom>
          <a:solidFill>
            <a:srgbClr val="0451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≥ 50%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每名到场球员的累计上场时间原则上相同，且不少于全场比赛时间的一半（40 分钟）。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434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6E6"/>
                </a:solidFill>
              </a:rPr>
              <a:t>每队建议报名 12–15 人，最多 16 人：16 人 × 40 分钟 = 8 人 × 80 分钟。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17720" y="1508760"/>
            <a:ext cx="3401568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9" name="icon-bg"/>
          <p:cNvSpPr/>
          <p:nvPr/>
        </p:nvSpPr>
        <p:spPr>
          <a:xfrm>
            <a:off x="481888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0" name="icon" descr="/tmp/claude-0/-home-user-ScoutPro/8d0e02b1-06d6-550b-959b-bfe209a9450e/scratchpad/build/gen/icons/TbRota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9589" y="1830629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0" y="17099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位置轮换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818888" y="2377440"/>
            <a:ext cx="29992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每名球员每场至少在两个位置上场，体验不同角色。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247888" y="1508760"/>
            <a:ext cx="3401568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14" name="icon-bg"/>
          <p:cNvSpPr/>
          <p:nvPr/>
        </p:nvSpPr>
        <p:spPr>
          <a:xfrm>
            <a:off x="8449056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5" name="icon" descr="/tmp/claude-0/-home-user-ScoutPro/8d0e02b1-06d6-550b-959b-bfe209a9450e/scratchpad/build/gen/icons/TbShirtSpo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57" y="183062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16568" y="17099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守门员轮换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8449056" y="2377440"/>
            <a:ext cx="29992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每场至少更换一次守门员（建议每节）；赛季中人人有机会。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17720" y="3950208"/>
            <a:ext cx="3401568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19" name="icon-bg"/>
          <p:cNvSpPr/>
          <p:nvPr/>
        </p:nvSpPr>
        <p:spPr>
          <a:xfrm>
            <a:off x="4818888" y="41513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0" name="icon" descr="/tmp/claude-0/-home-user-ScoutPro/8d0e02b1-06d6-550b-959b-bfe209a9450e/scratchpad/build/gen/icons/TbChecklis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589" y="4272077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86400" y="415137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上场时间记录表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4818888" y="4818888"/>
            <a:ext cx="29992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各队如实填写，赛后由比赛监督核查。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247888" y="3950208"/>
            <a:ext cx="3401568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24" name="icon-bg"/>
          <p:cNvSpPr/>
          <p:nvPr/>
        </p:nvSpPr>
        <p:spPr>
          <a:xfrm>
            <a:off x="8449056" y="41513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5" name="icon" descr="/tmp/claude-0/-home-user-ScoutPro/8d0e02b1-06d6-550b-959b-bfe209a9450e/scratchpad/build/gen/icons/TbArrowsExchan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757" y="4272077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16568" y="415137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滚动换人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8449056" y="4818888"/>
            <a:ext cx="29992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不限次数、不用停表，在换人区击掌上下。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保持竞争：落后可增员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KEEP IT COMPETITIVE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47872" cy="27432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落后 3 球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6600" b="1" dirty="0">
                <a:solidFill>
                  <a:srgbClr val="F2B21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EF6"/>
                </a:solidFill>
              </a:rPr>
              <a:t>可额外增加 1 名场上队员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325112" y="1554480"/>
            <a:ext cx="3547872" cy="27432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落后 4 球及以上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6600" b="1" dirty="0">
                <a:solidFill>
                  <a:srgbClr val="F2B21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+2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EF6"/>
                </a:solidFill>
              </a:rPr>
              <a:t>可额外增加 2 名场上队员（最多 2 人）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8101584" y="1554480"/>
            <a:ext cx="3547872" cy="2743200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5904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分差回落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66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−1</a:t>
            </a:r>
            <a:endParaRPr lang="en-US" sz="66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最后上场的增加队员在下一次死球时就近下场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增人须在死球时向执裁教练申请并经同意；新增队员须在本场上场名单内。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目的：让大比分落后的一方依然有机会，让领先的一方面对更高的挑战——双方都在比赛中成长。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与“比分保护”配合：积分排名中每场净胜球最多按 6 球计算。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教练员执裁，放宽判罚尺度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COACH REFEREES · LET THEM PLAY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6" name="icon" descr="/tmp/claude-0/-home-user-ScoutPro/8d0e02b1-06d6-550b-959b-bfe209a9450e/scratchpad/build/gen/icons/TbUser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8324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为什么让教练员来做裁判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双方教练员各执裁半场（两节），可使用电子口哨，比赛监督在场协助。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教练员最了解球员，执裁时能直观观察球员在实战中的优点与不足，赛后针对性指导，真正“以赛促练”。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执裁加深教练员对规则的理解，训练中更好地传递规则意识。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执裁时可安排换人、向本队队员提问，但不能指挥场上球员。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9632" y="150876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6428232" y="1691640"/>
            <a:ext cx="640080" cy="640080"/>
          </a:xfrm>
          <a:prstGeom prst="ellipse">
            <a:avLst/>
          </a:prstGeom>
          <a:solidFill>
            <a:srgbClr val="F2B21B"/>
          </a:solidFill>
          <a:ln/>
        </p:spPr>
      </p:sp>
      <p:pic>
        <p:nvPicPr>
          <p:cNvPr id="11" name="icon" descr="/tmp/claude-0/-home-user-ScoutPro/8d0e02b1-06d6-550b-959b-bfe209a9450e/scratchpad/build/gen/icons/TbSca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18324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为什么判罚尺度要大一些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28232" y="251460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参考日本青少年比赛：正常的身体对抗、单手轻微拉拽，只要不是故意犯规、不造成安全隐患，均不暂停比赛。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过严的判罚会频繁中断比赛，让球员畏手畏脚、不敢尝试。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报复性伤人、肘击、双手抱人或拉拽、从后方推人或铲人等，至少黄牌。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保护头颈：不鼓励头球，故意头球判间接任意球。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冷静区 · 绿牌 · 比分保护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COOL-DOWN · GREEN CARD · SCORE CAP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47872" cy="1188720"/>
          </a:xfrm>
          <a:prstGeom prst="roundRect">
            <a:avLst>
              <a:gd name="adj" fmla="val 9231"/>
            </a:avLst>
          </a:prstGeom>
          <a:solidFill>
            <a:srgbClr val="FFD200"/>
          </a:solidFill>
          <a:ln/>
        </p:spPr>
      </p:sp>
      <p:pic>
        <p:nvPicPr>
          <p:cNvPr id="5" name="icon" descr="/tmp/claude-0/-home-user-ScoutPro/8d0e02b1-06d6-550b-959b-bfe209a9450e/scratchpad/build/gen/icons/TbSnowflake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B2545"/>
                </a:solidFill>
              </a:rPr>
              <a:t>黄牌 = 暂时罚离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2834640"/>
            <a:ext cx="3547872" cy="3337560"/>
          </a:xfrm>
          <a:prstGeom prst="roundRect">
            <a:avLst>
              <a:gd name="adj" fmla="val 3288"/>
            </a:avLst>
          </a:prstGeom>
          <a:solidFill>
            <a:srgbClr val="F5F8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30175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球员暂时罚离 8 分钟，去冷静区冷静（参照 IFAB 指引）。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球队可立即补上替补，仍是 8 对 8——不因一个孩子的失误让整队失去锻炼机会。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时间到后先回替补席，再按滚动换人上场。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5112" y="1508760"/>
            <a:ext cx="3547872" cy="1188720"/>
          </a:xfrm>
          <a:prstGeom prst="roundRect">
            <a:avLst>
              <a:gd name="adj" fmla="val 9231"/>
            </a:avLst>
          </a:prstGeom>
          <a:solidFill>
            <a:srgbClr val="2FB45A"/>
          </a:solidFill>
          <a:ln/>
        </p:spPr>
      </p:sp>
      <p:pic>
        <p:nvPicPr>
          <p:cNvPr id="10" name="icon" descr="/tmp/claude-0/-home-user-ScoutPro/8d0e02b1-06d6-550b-959b-bfe209a9450e/scratchpad/build/gen/icons/TbHeartHandshak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7830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30952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绿牌 = 表彰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4325112" y="2834640"/>
            <a:ext cx="3547872" cy="3337560"/>
          </a:xfrm>
          <a:prstGeom prst="roundRect">
            <a:avLst>
              <a:gd name="adj" fmla="val 3288"/>
            </a:avLst>
          </a:prstGeom>
          <a:solidFill>
            <a:srgbClr val="F5F8F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553712" y="30175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主动承认球是自己碰出界的。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主动扶起对手或向对手道歉。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被误判时仍保持礼貌。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绿牌计入“公平竞赛奖”。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1584" y="1508760"/>
            <a:ext cx="3547872" cy="1188720"/>
          </a:xfrm>
          <a:prstGeom prst="roundRect">
            <a:avLst>
              <a:gd name="adj" fmla="val 9231"/>
            </a:avLst>
          </a:prstGeom>
          <a:solidFill>
            <a:srgbClr val="04518E"/>
          </a:solidFill>
          <a:ln/>
        </p:spPr>
      </p:sp>
      <p:pic>
        <p:nvPicPr>
          <p:cNvPr id="15" name="icon" descr="/tmp/claude-0/-home-user-ScoutPro/8d0e02b1-06d6-550b-959b-bfe209a9450e/scratchpad/build/gen/icons/TbShield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7830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07424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比分保护</a:t>
            </a:r>
            <a:endParaRPr lang="en-US" sz="2000" dirty="0"/>
          </a:p>
        </p:txBody>
      </p:sp>
      <p:sp>
        <p:nvSpPr>
          <p:cNvPr id="17" name="card"/>
          <p:cNvSpPr/>
          <p:nvPr/>
        </p:nvSpPr>
        <p:spPr>
          <a:xfrm>
            <a:off x="8101584" y="2834640"/>
            <a:ext cx="3547872" cy="3337560"/>
          </a:xfrm>
          <a:prstGeom prst="roundRect">
            <a:avLst>
              <a:gd name="adj" fmla="val 3288"/>
            </a:avLst>
          </a:prstGeom>
          <a:solidFill>
            <a:srgbClr val="F5F8FB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330184" y="30175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比分照常记录。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积分排名中每场净胜球最多按 6 球计算。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2F"/>
                </a:solidFill>
              </a:rPr>
              <a:t>减少大比分对输球一方孩子的心理打击。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场地与功能区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PITCH &amp; ZONES</a:t>
            </a:r>
            <a:endParaRPr lang="en-US" sz="1200" dirty="0"/>
          </a:p>
        </p:txBody>
      </p:sp>
      <p:pic>
        <p:nvPicPr>
          <p:cNvPr id="4" name="pitch" descr="/tmp/claude-0/-home-user-ScoutPro/8d0e02b1-06d6-550b-959b-bfe209a9450e/scratchpad/build/gen/pitch_8v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983480" cy="473659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806440" y="1508760"/>
            <a:ext cx="280720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6" name="icon-bg"/>
          <p:cNvSpPr/>
          <p:nvPr/>
        </p:nvSpPr>
        <p:spPr>
          <a:xfrm>
            <a:off x="60076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7" name="icon" descr="/tmp/claude-0/-home-user-ScoutPro/8d0e02b1-06d6-550b-959b-bfe209a9450e/scratchpad/build/gen/icons/TbFl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09" y="18306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675120" y="17099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越位区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007608" y="23774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越位只在越位线（第一个五人制场地边线）与球门线之间判罚。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8842248" y="1508760"/>
            <a:ext cx="280720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11" name="icon-bg"/>
          <p:cNvSpPr/>
          <p:nvPr/>
        </p:nvSpPr>
        <p:spPr>
          <a:xfrm>
            <a:off x="9043416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2" name="icon" descr="/tmp/claude-0/-home-user-ScoutPro/8d0e02b1-06d6-550b-959b-bfe209a9450e/scratchpad/build/gen/icons/TbSoccerF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117" y="1830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10928" y="17099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退守线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9043416" y="23774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球门球或守门员持球时，对方退到中线以后。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806440" y="3127248"/>
            <a:ext cx="280720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16" name="icon-bg"/>
          <p:cNvSpPr/>
          <p:nvPr/>
        </p:nvSpPr>
        <p:spPr>
          <a:xfrm>
            <a:off x="6007608" y="332841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7" name="icon" descr="/tmp/claude-0/-home-user-ScoutPro/8d0e02b1-06d6-550b-959b-bfe209a9450e/scratchpad/build/gen/icons/TbArrowsExchan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09" y="3449117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75120" y="33284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换人区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007608" y="399592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在本队替补席一侧，下场队员离场后击掌交接。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8842248" y="3127248"/>
            <a:ext cx="280720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21" name="icon-bg"/>
          <p:cNvSpPr/>
          <p:nvPr/>
        </p:nvSpPr>
        <p:spPr>
          <a:xfrm>
            <a:off x="9043416" y="332841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2" name="icon" descr="/tmp/claude-0/-home-user-ScoutPro/8d0e02b1-06d6-550b-959b-bfe209a9450e/scratchpad/build/gen/icons/TbSnowflak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4117" y="3449117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10928" y="33284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冷静区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043416" y="399592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暂时罚离的球员在此冷静，时间到后回替补席。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5806440" y="4745736"/>
            <a:ext cx="280720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26" name="icon-bg"/>
          <p:cNvSpPr/>
          <p:nvPr/>
        </p:nvSpPr>
        <p:spPr>
          <a:xfrm>
            <a:off x="6007608" y="4946904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7" name="icon" descr="/tmp/claude-0/-home-user-ScoutPro/8d0e02b1-06d6-550b-959b-bfe209a9450e/scratchpad/build/gen/icons/TbHear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309" y="5067605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675120" y="494690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家长观赛区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007608" y="561441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距边线 ≥ 2 米，只加油，不指挥，不进场。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8842248" y="4745736"/>
            <a:ext cx="280720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31" name="icon-bg"/>
          <p:cNvSpPr/>
          <p:nvPr/>
        </p:nvSpPr>
        <p:spPr>
          <a:xfrm>
            <a:off x="9043416" y="4946904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32" name="icon" descr="/tmp/claude-0/-home-user-ScoutPro/8d0e02b1-06d6-550b-959b-bfe209a9450e/scratchpad/build/gen/icons/TbBallFootball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4117" y="5067605"/>
            <a:ext cx="307238" cy="30723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710928" y="494690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多球制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9043416" y="561441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场边摆放比赛用球，出界就近取球；非比赛人员勿碰。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三方守则：家长 · 教练员 · 球员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CODES OF CONDUCT · RESPECT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2FB45A"/>
          </a:solidFill>
          <a:ln/>
        </p:spPr>
      </p:sp>
      <p:pic>
        <p:nvPicPr>
          <p:cNvPr id="6" name="icon" descr="/tmp/claude-0/-home-user-ScoutPro/8d0e02b1-06d6-550b-959b-bfe209a9450e/scratchpad/build/gen/icons/TbHe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81636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家长守则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363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家长须停留在家长观赛区（与边线保持至少 2 米距离），可以为孩子加油、鼓掌。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不得有干扰球员决策的行为：不在场边指挥、命令，不对任何球员打骂、讽刺、威胁、嘲笑。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比赛进行中不进入场地为孩子擦汗、喂水、拿书包等（球员受伤等特殊情况除外，须经执裁人员示意）。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尊重执裁人员（执裁教练 / 场地引导员）的判罚，不指责球员、教练员、执裁人员和组委会工作人员。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赛后多问孩子“今天开心吗？尝试了什么？”，少问“赢了吗？进了几个球？”。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5112" y="150876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4553712" y="1691640"/>
            <a:ext cx="566928" cy="566928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1" name="icon" descr="/tmp/claude-0/-home-user-ScoutPro/8d0e02b1-06d6-550b-959b-bfe209a9450e/scratchpad/build/gen/icons/TbMessage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436" y="181636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9512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教练员守则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423160"/>
            <a:ext cx="31363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在比赛中可以：指导替补队员、安排换人、向队员提问、为队员加油。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在比赛中不可以：遥控场上球员——如直接命令传球、射门、向左、加速、变向、向后、带球等剥夺球员自主决策的指令。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不得对任何人有打骂、指挥式命令、讽刺、威胁、嘲笑等负面语言行为。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技术战术指导在节间休息、中场休息进行；场边只做简短的鼓励性示意。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保证每一名到场球员的上场时间与位置轮换，如实填写《上场时间记录表》。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1584" y="150876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F5F8FB"/>
          </a:solidFill>
          <a:ln/>
        </p:spPr>
      </p:sp>
      <p:sp>
        <p:nvSpPr>
          <p:cNvPr id="15" name="icon-bg"/>
          <p:cNvSpPr/>
          <p:nvPr/>
        </p:nvSpPr>
        <p:spPr>
          <a:xfrm>
            <a:off x="8330184" y="169164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con" descr="/tmp/claude-0/-home-user-ScoutPro/8d0e02b1-06d6-550b-959b-bfe209a9450e/scratchpad/build/gen/icons/TbBallFootba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908" y="181636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15984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球员守则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2423160"/>
            <a:ext cx="31363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尊重对手、队友、执裁人员和观众；赛前赛后与对手握手。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全力以赴，胜不骄、败不馁；大胆尝试，不怕失误。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诚实比赛：球出界、碰手球主动承认；对手摔倒主动扶起。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服从执裁，有疑问请队长礼貌询问。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每一名球员都会被看见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AWARDS FOR EVERYONE</a:t>
            </a:r>
            <a:endParaRPr lang="en-US" sz="1200" dirty="0"/>
          </a:p>
        </p:txBody>
      </p:sp>
      <p:pic>
        <p:nvPicPr>
          <p:cNvPr id="4" name="photo" descr="/tmp/claude-0/-home-user-ScoutPro/8d0e02b1-06d6-550b-959b-bfe209a9450e/scratchpad/build/photos/p6_x4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206240" cy="466344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4983480" y="1508760"/>
            <a:ext cx="321868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6" name="icon-bg"/>
          <p:cNvSpPr/>
          <p:nvPr/>
        </p:nvSpPr>
        <p:spPr>
          <a:xfrm>
            <a:off x="518464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7" name="icon" descr="/tmp/claude-0/-home-user-ScoutPro/8d0e02b1-06d6-550b-959b-bfe209a9450e/scratchpad/build/gen/icons/Tb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349" y="18306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170992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冠亚季军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184648" y="2377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各级别组按积分（含比分保护）排名。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8430768" y="1508760"/>
            <a:ext cx="321868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11" name="icon-bg"/>
          <p:cNvSpPr/>
          <p:nvPr/>
        </p:nvSpPr>
        <p:spPr>
          <a:xfrm>
            <a:off x="8631936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2" name="icon" descr="/tmp/claude-0/-home-user-ScoutPro/8d0e02b1-06d6-550b-959b-bfe209a9450e/scratchpad/build/gen/icons/TbHeart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637" y="1830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99448" y="170992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公平竞赛奖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631936" y="2377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绿牌多、黄红牌少的球队。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983480" y="3127248"/>
            <a:ext cx="321868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16" name="icon-bg"/>
          <p:cNvSpPr/>
          <p:nvPr/>
        </p:nvSpPr>
        <p:spPr>
          <a:xfrm>
            <a:off x="5184648" y="332841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7" name="icon" descr="/tmp/claude-0/-home-user-ScoutPro/8d0e02b1-06d6-550b-959b-bfe209a9450e/scratchpad/build/gen/icons/TbSt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349" y="3449117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52160" y="3328416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成长之星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184648" y="399592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每队教练推选进步最大的 2 名球员。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8430768" y="3127248"/>
            <a:ext cx="3218688" cy="1417320"/>
          </a:xfrm>
          <a:prstGeom prst="roundRect">
            <a:avLst>
              <a:gd name="adj" fmla="val 7742"/>
            </a:avLst>
          </a:prstGeom>
          <a:solidFill>
            <a:srgbClr val="F5F8FB"/>
          </a:solidFill>
          <a:ln/>
        </p:spPr>
      </p:sp>
      <p:sp>
        <p:nvSpPr>
          <p:cNvPr id="21" name="icon-bg"/>
          <p:cNvSpPr/>
          <p:nvPr/>
        </p:nvSpPr>
        <p:spPr>
          <a:xfrm>
            <a:off x="8631936" y="332841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2" name="icon" descr="/tmp/claude-0/-home-user-ScoutPro/8d0e02b1-06d6-550b-959b-bfe209a9450e/scratchpad/build/gen/icons/TbUser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637" y="3449117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299448" y="3328416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执裁与志愿者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8631936" y="399592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最佳执裁教练、优秀志愿者：感谢让比赛更好的人。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983480" y="4754880"/>
            <a:ext cx="6665976" cy="1417320"/>
          </a:xfrm>
          <a:prstGeom prst="roundRect">
            <a:avLst>
              <a:gd name="adj" fmla="val 7742"/>
            </a:avLst>
          </a:prstGeom>
          <a:solidFill>
            <a:srgbClr val="0B2545"/>
          </a:solidFill>
          <a:ln/>
        </p:spPr>
      </p:sp>
      <p:sp>
        <p:nvSpPr>
          <p:cNvPr id="26" name="icon-bg"/>
          <p:cNvSpPr/>
          <p:nvPr/>
        </p:nvSpPr>
        <p:spPr>
          <a:xfrm>
            <a:off x="5212080" y="5029200"/>
            <a:ext cx="822960" cy="822960"/>
          </a:xfrm>
          <a:prstGeom prst="ellipse">
            <a:avLst/>
          </a:prstGeom>
          <a:solidFill>
            <a:srgbClr val="F2B21B"/>
          </a:solidFill>
          <a:ln/>
        </p:spPr>
      </p:sp>
      <p:pic>
        <p:nvPicPr>
          <p:cNvPr id="27" name="icon" descr="/tmp/claude-0/-home-user-ScoutPro/8d0e02b1-06d6-550b-959b-bfe209a9450e/scratchpad/build/gen/icons/TbMedal_0B254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3131" y="5210251"/>
            <a:ext cx="460858" cy="46085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217920" y="49377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所有队员都会上台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6E6"/>
                </a:solidFill>
              </a:rPr>
              <a:t>闭幕式上，颁奖嘉宾为每一名小球员颁发完赛奖牌、证书与纪念品。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报名参赛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HOW TO JOIN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6" name="icon" descr="/tmp/claude-0/-home-user-ScoutPro/8d0e02b1-06d6-550b-959b-bfe209a9450e/scratchpad/build/gen/icons/TbBuildingCommuni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8306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谁可以报名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学校、年级、班级、青训俱乐部、小区队伍、好朋友队伍；可混龄；可报名大一岁女队员（不限人数）。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0488" y="150876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6391656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1" name="icon" descr="/tmp/claude-0/-home-user-ScoutPro/8d0e02b1-06d6-550b-959b-bfe209a9450e/scratchpad/build/gen/icons/Tb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357" y="18306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59168" y="17099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报名人数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391656" y="2377440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教练 1 人 + 领队 / 翻译 1 人；队员建议 12–15 人，最多 16 人。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493008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15" name="icon-bg"/>
          <p:cNvSpPr/>
          <p:nvPr/>
        </p:nvSpPr>
        <p:spPr>
          <a:xfrm>
            <a:off x="749808" y="36941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6" name="icon" descr="/tmp/claude-0/-home-user-ScoutPro/8d0e02b1-06d6-550b-959b-bfe209a9450e/scratchpad/build/gen/icons/TbChecklis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381487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6941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报名资料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" y="436168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参赛报名表；个人报名表（肖像权协议、参赛承诺书、个人资料、意外险证明）；球队集体照。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90488" y="3493008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20" name="icon-bg"/>
          <p:cNvSpPr/>
          <p:nvPr/>
        </p:nvSpPr>
        <p:spPr>
          <a:xfrm>
            <a:off x="6391656" y="36941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1" name="icon" descr="/tmp/claude-0/-home-user-ScoutPro/8d0e02b1-06d6-550b-959b-bfe209a9450e/scratchpad/build/gen/icons/TbShield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3814877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59168" y="36941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参赛资格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91656" y="436168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身体健康、持有效身份证明、已购买人身意外伤害保险、实名登记。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7F0F9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4518E"/>
                </a:solidFill>
              </a:rPr>
              <a:t>报名方式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报名资料发送至 PYLCTU@163.com　·　联系人 19980720350（杨老师）　·　截止时间与费用以《报名通知》为准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为了每个人更好的成长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FOR BETTER GROWTH OF EVERYONE</a:t>
            </a:r>
            <a:endParaRPr lang="en-US" sz="2600" dirty="0"/>
          </a:p>
        </p:txBody>
      </p:sp>
      <p:pic>
        <p:nvPicPr>
          <p:cNvPr id="4" name="logo" descr="/tmp/claude-0/-home-user-ScoutPro/8d0e02b1-06d6-550b-959b-bfe209a9450e/scratchpad/out/01_VI视觉识别系统/assets/logo/panda-logo_elite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1732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报名咨询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6E6"/>
                </a:solidFill>
              </a:rPr>
              <a:t>19980720350（杨老师）　·　PYLCTU@163.com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6E6"/>
                </a:solidFill>
              </a:rPr>
              <a:t>比赛地点：四川新北足球中心　·　每周六下午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 elite">
  <a:themeElements>
    <a:clrScheme name="Panda elite">
      <a:dk1>
        <a:srgbClr val="13202F"/>
      </a:dk1>
      <a:lt1>
        <a:srgbClr val="FFFFFF"/>
      </a:lt1>
      <a:dk2>
        <a:srgbClr val="0B2545"/>
      </a:dk2>
      <a:lt2>
        <a:srgbClr val="E6EEF6"/>
      </a:lt2>
      <a:accent1>
        <a:srgbClr val="04518E"/>
      </a:accent1>
      <a:accent2>
        <a:srgbClr val="F2B21B"/>
      </a:accent2>
      <a:accent3>
        <a:srgbClr val="1E9BD7"/>
      </a:accent3>
      <a:accent4>
        <a:srgbClr val="F26A2E"/>
      </a:accent4>
      <a:accent5>
        <a:srgbClr val="FFC72C"/>
      </a:accent5>
      <a:accent6>
        <a:srgbClr val="5A6B80"/>
      </a:accent6>
      <a:hlink>
        <a:srgbClr val="04518E"/>
      </a:hlink>
      <a:folHlink>
        <a:srgbClr val="5A6B80"/>
      </a:folHlink>
    </a:clrScheme>
    <a:fontScheme name="Panda elit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成都高新区足球协会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熊猫精英足球联赛（秋季） 比赛介绍</dc:title>
  <dc:subject>PptxGenJS Presentation</dc:subject>
  <dc:creator>成都高新区足球协会</dc:creator>
  <cp:lastModifiedBy>成都高新区足球协会</cp:lastModifiedBy>
  <cp:revision>1</cp:revision>
  <dcterms:created xsi:type="dcterms:W3CDTF">2026-10-16T13:30:43Z</dcterms:created>
  <dcterms:modified xsi:type="dcterms:W3CDTF">2026-10-16T13:30:43Z</dcterms:modified>
</cp:coreProperties>
</file>